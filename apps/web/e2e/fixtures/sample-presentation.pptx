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50b855d6cb4796" /><Relationship Type="http://schemas.openxmlformats.org/officeDocument/2006/relationships/extended-properties" Target="/docProps/app.xml" Id="Rd53a09489c6d4ad6" /><Relationship Type="http://schemas.openxmlformats.org/officeDocument/2006/relationships/officeDocument" Target="/ppt/presentation.xml" Id="R140c8b5e641b49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2b10e03a164edc"/>
  </p:sldMasterIdLst>
  <p:notesMasterIdLst>
    <p:notesMasterId xmlns:r="http://schemas.openxmlformats.org/officeDocument/2006/relationships" r:id="Ra3c20d79facd4766"/>
  </p:notesMasterIdLst>
  <p:sldIdLst>
    <p:sldId xmlns:r="http://schemas.openxmlformats.org/officeDocument/2006/relationships" id="256" r:id="R34f4ed9082464b65"/>
    <p:sldId xmlns:r="http://schemas.openxmlformats.org/officeDocument/2006/relationships" id="257" r:id="R8d9f82dd561b4336"/>
    <p:sldId xmlns:r="http://schemas.openxmlformats.org/officeDocument/2006/relationships" id="258" r:id="R1143c1c659e44ba8"/>
    <p:sldId xmlns:r="http://schemas.openxmlformats.org/officeDocument/2006/relationships" id="259" r:id="R017a8e12f9af41be"/>
    <p:sldId xmlns:r="http://schemas.openxmlformats.org/officeDocument/2006/relationships" id="260" r:id="Rbac11555628449c4"/>
    <p:sldId xmlns:r="http://schemas.openxmlformats.org/officeDocument/2006/relationships" id="261" r:id="R0ce8cca4b0464428"/>
    <p:sldId xmlns:r="http://schemas.openxmlformats.org/officeDocument/2006/relationships" id="262" r:id="R94a66d36a1f4427f"/>
    <p:sldId xmlns:r="http://schemas.openxmlformats.org/officeDocument/2006/relationships" id="263" r:id="R715d4f195128465d"/>
    <p:sldId xmlns:r="http://schemas.openxmlformats.org/officeDocument/2006/relationships" id="264" r:id="R2887d52ac7ee4099"/>
    <p:sldId xmlns:r="http://schemas.openxmlformats.org/officeDocument/2006/relationships" id="265" r:id="R80628af4bb1f4b8e"/>
    <p:sldId xmlns:r="http://schemas.openxmlformats.org/officeDocument/2006/relationships" id="266" r:id="R0eb17f959c304e15"/>
    <p:sldId xmlns:r="http://schemas.openxmlformats.org/officeDocument/2006/relationships" id="267" r:id="R8ab4e72d16df4664"/>
    <p:sldId xmlns:r="http://schemas.openxmlformats.org/officeDocument/2006/relationships" id="268" r:id="R1ab93f5efff64bd8"/>
    <p:sldId xmlns:r="http://schemas.openxmlformats.org/officeDocument/2006/relationships" id="269" r:id="R48830e7545834648"/>
    <p:sldId xmlns:r="http://schemas.openxmlformats.org/officeDocument/2006/relationships" id="270" r:id="Ra2a50e8138fd4cd3"/>
    <p:sldId xmlns:r="http://schemas.openxmlformats.org/officeDocument/2006/relationships" id="271" r:id="R2e3e9dbadd9746cf"/>
    <p:sldId xmlns:r="http://schemas.openxmlformats.org/officeDocument/2006/relationships" id="272" r:id="R5a4ab62dcead456d"/>
    <p:sldId xmlns:r="http://schemas.openxmlformats.org/officeDocument/2006/relationships" id="273" r:id="R94874a7ef8aa4a68"/>
    <p:sldId xmlns:r="http://schemas.openxmlformats.org/officeDocument/2006/relationships" id="274" r:id="R0dd76319c7e147e7"/>
    <p:sldId xmlns:r="http://schemas.openxmlformats.org/officeDocument/2006/relationships" id="275" r:id="Rafcb81779f90473a"/>
  </p:sldIdLst>
  <p:sldSz cx="16256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d2beaeb8b04b9e" /><Relationship Type="http://schemas.openxmlformats.org/officeDocument/2006/relationships/slideMaster" Target="/ppt/slideMasters/slideMaster1.xml" Id="R082b10e03a164edc" /><Relationship Type="http://schemas.openxmlformats.org/officeDocument/2006/relationships/notesMaster" Target="/ppt/notesMasters/notesMaster1.xml" Id="Ra3c20d79facd4766" /><Relationship Type="http://schemas.openxmlformats.org/officeDocument/2006/relationships/presProps" Target="/ppt/presProps.xml" Id="Rb8ef8df1d66f4737" /><Relationship Type="http://schemas.openxmlformats.org/officeDocument/2006/relationships/tableStyles" Target="/ppt/tableStyles.xml" Id="Rbbba48346d33441f" /><Relationship Type="http://schemas.openxmlformats.org/officeDocument/2006/relationships/slide" Target="/ppt/slides/slide1.xml" Id="R34f4ed9082464b65" /><Relationship Type="http://schemas.openxmlformats.org/officeDocument/2006/relationships/slide" Target="/ppt/slides/slide2.xml" Id="R8d9f82dd561b4336" /><Relationship Type="http://schemas.openxmlformats.org/officeDocument/2006/relationships/slide" Target="/ppt/slides/slide3.xml" Id="R1143c1c659e44ba8" /><Relationship Type="http://schemas.openxmlformats.org/officeDocument/2006/relationships/slide" Target="/ppt/slides/slide4.xml" Id="R017a8e12f9af41be" /><Relationship Type="http://schemas.openxmlformats.org/officeDocument/2006/relationships/slide" Target="/ppt/slides/slide5.xml" Id="Rbac11555628449c4" /><Relationship Type="http://schemas.openxmlformats.org/officeDocument/2006/relationships/slide" Target="/ppt/slides/slide6.xml" Id="R0ce8cca4b0464428" /><Relationship Type="http://schemas.openxmlformats.org/officeDocument/2006/relationships/slide" Target="/ppt/slides/slide7.xml" Id="R94a66d36a1f4427f" /><Relationship Type="http://schemas.openxmlformats.org/officeDocument/2006/relationships/slide" Target="/ppt/slides/slide8.xml" Id="R715d4f195128465d" /><Relationship Type="http://schemas.openxmlformats.org/officeDocument/2006/relationships/slide" Target="/ppt/slides/slide9.xml" Id="R2887d52ac7ee4099" /><Relationship Type="http://schemas.openxmlformats.org/officeDocument/2006/relationships/slide" Target="/ppt/slides/slide10.xml" Id="R80628af4bb1f4b8e" /><Relationship Type="http://schemas.openxmlformats.org/officeDocument/2006/relationships/slide" Target="/ppt/slides/slide11.xml" Id="R0eb17f959c304e15" /><Relationship Type="http://schemas.openxmlformats.org/officeDocument/2006/relationships/slide" Target="/ppt/slides/slide12.xml" Id="R8ab4e72d16df4664" /><Relationship Type="http://schemas.openxmlformats.org/officeDocument/2006/relationships/slide" Target="/ppt/slides/slide13.xml" Id="R1ab93f5efff64bd8" /><Relationship Type="http://schemas.openxmlformats.org/officeDocument/2006/relationships/slide" Target="/ppt/slides/slide14.xml" Id="R48830e7545834648" /><Relationship Type="http://schemas.openxmlformats.org/officeDocument/2006/relationships/slide" Target="/ppt/slides/slide15.xml" Id="Ra2a50e8138fd4cd3" /><Relationship Type="http://schemas.openxmlformats.org/officeDocument/2006/relationships/slide" Target="/ppt/slides/slide16.xml" Id="R2e3e9dbadd9746cf" /><Relationship Type="http://schemas.openxmlformats.org/officeDocument/2006/relationships/slide" Target="/ppt/slides/slide17.xml" Id="R5a4ab62dcead456d" /><Relationship Type="http://schemas.openxmlformats.org/officeDocument/2006/relationships/slide" Target="/ppt/slides/slide18.xml" Id="R94874a7ef8aa4a68" /><Relationship Type="http://schemas.openxmlformats.org/officeDocument/2006/relationships/slide" Target="/ppt/slides/slide19.xml" Id="R0dd76319c7e147e7" /><Relationship Type="http://schemas.openxmlformats.org/officeDocument/2006/relationships/slide" Target="/ppt/slides/slide20.xml" Id="Rafcb81779f9047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6a27e3e21447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5f3b64cf64814" /><Relationship Type="http://schemas.openxmlformats.org/officeDocument/2006/relationships/notesMaster" Target="/ppt/notesMasters/notesMaster1.xml" Id="R4e83e4a23d4c42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3cfcc156534821" /><Relationship Type="http://schemas.openxmlformats.org/officeDocument/2006/relationships/notesMaster" Target="/ppt/notesMasters/notesMaster1.xml" Id="Raa4d585a565544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559c18503c4951" /><Relationship Type="http://schemas.openxmlformats.org/officeDocument/2006/relationships/notesMaster" Target="/ppt/notesMasters/notesMaster1.xml" Id="R96b5d2dd59534c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47a47f3c44dfe" /><Relationship Type="http://schemas.openxmlformats.org/officeDocument/2006/relationships/notesMaster" Target="/ppt/notesMasters/notesMaster1.xml" Id="R471563e0f8bd48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05f87d5d4646e7" /><Relationship Type="http://schemas.openxmlformats.org/officeDocument/2006/relationships/notesMaster" Target="/ppt/notesMasters/notesMaster1.xml" Id="R8f821a65a95f40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86f94266724b5b" /><Relationship Type="http://schemas.openxmlformats.org/officeDocument/2006/relationships/notesMaster" Target="/ppt/notesMasters/notesMaster1.xml" Id="R3d1dc655e1a443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f074a5e5647b5" /><Relationship Type="http://schemas.openxmlformats.org/officeDocument/2006/relationships/notesMaster" Target="/ppt/notesMasters/notesMaster1.xml" Id="Refff63aba6134f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ec72c720fe458b" /><Relationship Type="http://schemas.openxmlformats.org/officeDocument/2006/relationships/notesMaster" Target="/ppt/notesMasters/notesMaster1.xml" Id="R716d69c2d3fb40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dfb1bf25d8468c" /><Relationship Type="http://schemas.openxmlformats.org/officeDocument/2006/relationships/notesMaster" Target="/ppt/notesMasters/notesMaster1.xml" Id="R1db2431dabc04a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085fb0c712427d" /><Relationship Type="http://schemas.openxmlformats.org/officeDocument/2006/relationships/notesMaster" Target="/ppt/notesMasters/notesMaster1.xml" Id="R21263d5fd9f945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b167104f664ddb" /><Relationship Type="http://schemas.openxmlformats.org/officeDocument/2006/relationships/notesMaster" Target="/ppt/notesMasters/notesMaster1.xml" Id="Rcce24411a81446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bc610b381445be" /><Relationship Type="http://schemas.openxmlformats.org/officeDocument/2006/relationships/notesMaster" Target="/ppt/notesMasters/notesMaster1.xml" Id="Ra784e6d7838f4c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270073103c4a4f" /><Relationship Type="http://schemas.openxmlformats.org/officeDocument/2006/relationships/notesMaster" Target="/ppt/notesMasters/notesMaster1.xml" Id="R660c3baa688d4d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568f3c305b4cf0" /><Relationship Type="http://schemas.openxmlformats.org/officeDocument/2006/relationships/notesMaster" Target="/ppt/notesMasters/notesMaster1.xml" Id="R223e79a220474a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a8d90554b8494b" /><Relationship Type="http://schemas.openxmlformats.org/officeDocument/2006/relationships/notesMaster" Target="/ppt/notesMasters/notesMaster1.xml" Id="Ra9e08aa5640a47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0ed8a3833c4df1" /><Relationship Type="http://schemas.openxmlformats.org/officeDocument/2006/relationships/notesMaster" Target="/ppt/notesMasters/notesMaster1.xml" Id="Rc357bf5a35ce4c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08582fb9c143c7" /><Relationship Type="http://schemas.openxmlformats.org/officeDocument/2006/relationships/notesMaster" Target="/ppt/notesMasters/notesMaster1.xml" Id="R3ac931efec8b4b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ca3b9f552a44e6" /><Relationship Type="http://schemas.openxmlformats.org/officeDocument/2006/relationships/notesMaster" Target="/ppt/notesMasters/notesMaster1.xml" Id="Rcc7df70e27bb49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42ad3181d04dad" /><Relationship Type="http://schemas.openxmlformats.org/officeDocument/2006/relationships/notesMaster" Target="/ppt/notesMasters/notesMaster1.xml" Id="Rdbbda7909a694a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c68ca94cca4214" /><Relationship Type="http://schemas.openxmlformats.org/officeDocument/2006/relationships/notesMaster" Target="/ppt/notesMasters/notesMaster1.xml" Id="Rc4dd9aa9676a46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开场强调：本项目不是传统培训，也不是三天做完生产系统，而是让三个真实场景完成从定义、原型到验证的最小闭环。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/Users/shenyanbin/Documents/workshops/海创会 713/工作坊准备/海尔法务AI原生共创工作坊 · UNIT 01 对齐、分组与证据准备2.key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讲解三天压缩原则：海尔五天方案中的对齐、发现、定义、构建和三轮验证全部保留；可前置的资料准备移到会前，现场聚焦决策、构建和验证。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  <a:p xmlns:a="http://schemas.openxmlformats.org/drawingml/2006/main">
            <a:r>
              <a:t>- /Users/shenyanbin/Documents/workshops/海创会 713/工作坊准备/海尔法务AI原生共创工作坊 · UNIT 01 对齐、分组与证据准备2.key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总览页只讲节奏：Day 1 把问题说清并冻结边界；Day 2 把闭环做成可测试原型；Day 3 用三轮证据决定是否进入六周开发。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解释为什么必须前置作业：三天现场没有时间重新补背景。Golden Task 让三轮迭代使用同一任务，专家答案负责定义“什么叫对”。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  <a:p xmlns:a="http://schemas.openxmlformats.org/drawingml/2006/main">
            <a:r>
              <a:t>- /Users/shenyanbin/Documents/workshops/海创会 713/工作坊准备/海尔法务AI原生共创工作坊 · UNIT 01 对齐、分组与证据准备2.key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 1 的核心不是产出更多想法，而是把三个场景压缩成最小、可治理、可验证的闭环。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/Users/shenyanbin/Documents/workshops/海创会 713/工作坊准备/海尔法务AI原生共创工作坊 · UNIT 01 对齐、分组与证据准备2.key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主持方法：先让参与者独立写出“6 周后发生什么才算成功”，再合并成可观测指标。五维诊断不追求平均分，而是寻找差异和短板。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/Users/shenyanbin/Documents/workshops/海创会 713/工作坊准备/海尔法务AI原生共创工作坊 · UNIT 01 对齐、分组与证据准备2.key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建议使用国创院五类痛点：跨部门协同阻塞、资源信息不对称、海外推进难、知识流失、生态沉睡。每组最终只保留一个核心任务。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/Users/shenyanbin/Documents/workshops/海创会 713/工作坊准备/海尔法务AI原生共创工作坊 · UNIT 01 对齐、分组与证据准备2.key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以原方案基线为核对起点：材料评估约 4 天、海外初筛约 10 天、尽调返工率约 35%。现场需由业务确认真实口径。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边界冻结时必须回答：做什么、不做什么；哪一步由 Agent 执行；哪一步必须由人判断；使用哪些数据；失败如何中止。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/Users/shenyanbin/Documents/workshops/海创会 713/工作坊准备/海尔法务AI原生共创工作坊 · UNIT 01 对齐、分组与证据准备2.key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 2 把 Day 1 冻结的业务闭环转成可操作的沙盒原型，同时建立判断规则、评估集和回灌机制。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重点检查 Feed 不是一句口号：它必须明确什么偏差会触发修正、修正写到哪里、由谁确认、如何版本化。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不能自行宣布完成。只有 Verification 成功并形成 Evidence，相关能力才算通过。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MVL-01 可优先跑通“材料入库→解析→初评→专家复核→报告”。其余两组也只实现最短可信链路。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尽调事实流建议坚持“只进不改”：新事实追加、旧事实保留、所有修正可追溯。700+ 生态企业只做验证所需的最小能力编码。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 3 连续测试同一个原型。每一轮都有明确对象和通过标准，测试反馈必须进入 Corrections 并完成回归。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主持人需要阻止“口头解释算通过”。参与者必须在沙盒中真正执行一次，所有关键步骤留下可检查证据。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测试对象应来自核心用户群，而不是项目团队。重点比较新流程是否减少等待、返工和重复解释。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  <a:p xmlns:a="http://schemas.openxmlformats.org/drawingml/2006/main">
            <a:r>
              <a:t>- /Users/shenyanbin/Documents/workshops/海创会 713/工作坊准备/海尔法务AI原生共创工作坊 · UNIT 01 对齐、分组与证据准备2.key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判断原则：把高风险判断留给人，把 Loop 的持续进化交给系统。未经授权的敏感数据与生产系统始终不进入测试。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六周节奏：Week 1 架构冻结；Week 2 质量飞轮；Week 3 三 MVL 核心链路；Week 4 EOS 与看板；Week 5 SOP 与红队；Week 6 进化验收。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收口时逐项确认：哪些已经通过验证，哪些仍是假设，哪些阻塞需要管理层协调。现场确定第一次六周 Loop 复盘时间。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/Users/shenyanbin/Documents/workshops/国创院 8-6/长三角国创院 AI 原生转型种子计划 （重构版）.pdf</a:t>
            </a:r>
          </a:p>
          <a:p xmlns:a="http://schemas.openxmlformats.org/drawingml/2006/main">
            <a:r>
              <a:t>- /Users/shenyanbin/Documents/workshops/海创汇 720/第二阶段_2.5天_AI_Native_Sprint_Homework.pdf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a820bb20d43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b172002664415" /></Relationships>
</file>

<file path=ppt/slideLayouts/slideLayout1.xml><?xml version="1.0" encoding="utf-8"?>
<p:sldLayout xmlns:p="http://schemas.openxmlformats.org/presentationml/2006/main" showMasterSp="1" showMasterPhAnim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B4F78BCA-033F-4D75-9FA8-A3AE89D5A17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正文级别 1…">
            <a:extLst xmlns:a="http://schemas.openxmlformats.org/drawingml/2006/main">
              <a:ext uri="{FF2B5EF4-FFF2-40B4-BE49-F238E27FC236}">
                <a16:creationId xmlns:a16="http://schemas.microsoft.com/office/drawing/2014/main" id="{BB20C925-A0C7-4585-A0AE-9F3597B9EDD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00893" y="7906574"/>
            <a:ext cx="14647336" cy="4246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0479" tIns="30479" rIns="30479" bIns="30479">
            <a:normAutofit fontScale="100000" lnSpcReduction="0"/>
          </a:bodyPr>
          <a:lstStyle xmlns:a="http://schemas.openxmlformats.org/drawingml/2006/main">
            <a:lvl1pPr marL="0" indent="0" defTabSz="550333">
              <a:spcBef>
                <a:spcPts val="0"/>
              </a:spcBef>
              <a:buSzTx/>
              <a:buFontTx/>
              <a:buNone/>
              <a:defRPr sz="2400" b="1">
                <a:latin typeface="Helvetica Neue"/>
                <a:ea typeface="Helvetica Neue"/>
                <a:cs typeface="Helvetica Neue"/>
              </a:defRPr>
            </a:lvl1pPr>
            <a:lvl2pPr marL="914400" indent="-304800" defTabSz="550333">
              <a:spcBef>
                <a:spcPts val="0"/>
              </a:spcBef>
              <a:buSzPct val="123000"/>
              <a:buFontTx/>
              <a:buChar char="•"/>
              <a:defRPr sz="2400" b="1">
                <a:latin typeface="Helvetica Neue"/>
                <a:ea typeface="Helvetica Neue"/>
                <a:cs typeface="Helvetica Neue"/>
              </a:defRPr>
            </a:lvl2pPr>
            <a:lvl3pPr marL="1524000" defTabSz="550333">
              <a:spcBef>
                <a:spcPts val="0"/>
              </a:spcBef>
              <a:buSzPct val="123000"/>
              <a:buFontTx/>
              <a:buNone/>
              <a:defRPr sz="2400" b="1">
                <a:latin typeface="Helvetica Neue"/>
                <a:ea typeface="Helvetica Neue"/>
                <a:cs typeface="Helvetica Neue"/>
              </a:defRPr>
            </a:lvl3pPr>
            <a:lvl4pPr marL="2133600" indent="-304800" defTabSz="550333">
              <a:spcBef>
                <a:spcPts val="0"/>
              </a:spcBef>
              <a:buSzPct val="123000"/>
              <a:buFontTx/>
              <a:buChar char="•"/>
              <a:defRPr sz="2400" b="1">
                <a:latin typeface="Helvetica Neue"/>
                <a:ea typeface="Helvetica Neue"/>
                <a:cs typeface="Helvetica Neue"/>
              </a:defRPr>
            </a:lvl4pPr>
            <a:lvl5pPr marL="2743200" indent="-304800" defTabSz="550333">
              <a:spcBef>
                <a:spcPts val="0"/>
              </a:spcBef>
              <a:buSzPct val="123000"/>
              <a:buFontTx/>
              <a:buChar char="•"/>
              <a:defRPr sz="2400" b="1">
                <a:latin typeface="Helvetica Neue"/>
                <a:ea typeface="Helvetica Neue"/>
                <a:cs typeface="Helvetica Neue"/>
              </a:defRPr>
            </a:lvl5pPr>
          </a:lstStyle>
          <a:p xmlns:a="http://schemas.openxmlformats.org/drawingml/2006/main">
            <a:pPr>
              <a:buNone/>
            </a:pPr>
            <a:r>
              <a:t>Author and Date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9" name="Presentation Title">
            <a:extLst xmlns:a="http://schemas.openxmlformats.org/drawingml/2006/main">
              <a:ext uri="{FF2B5EF4-FFF2-40B4-BE49-F238E27FC236}">
                <a16:creationId xmlns:a16="http://schemas.microsoft.com/office/drawing/2014/main" id="{ED7675A3-E879-45B5-AFBA-18E15810724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4330" y="1716660"/>
            <a:ext cx="14647338" cy="3098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3866" tIns="33866" rIns="33866" bIns="33866" anchor="b">
            <a:normAutofit fontScale="100000" lnSpcReduction="0"/>
          </a:bodyPr>
          <a:lstStyle xmlns:a="http://schemas.openxmlformats.org/drawingml/2006/main">
            <a:lvl1pPr algn="l" defTabSz="1625600">
              <a:lnSpc>
                <a:spcPct val="80000"/>
              </a:lnSpc>
              <a:buNone/>
              <a:defRPr sz="7600" b="1" spc="-152">
                <a:latin typeface="Helvetica Neue"/>
                <a:ea typeface="Helvetica Neue"/>
                <a:cs typeface="Helvetica Neue"/>
              </a:defRPr>
            </a:lvl1pPr>
          </a:lstStyle>
          <a:p xmlns:a="http://schemas.openxmlformats.org/drawingml/2006/main">
            <a:pPr>
              <a:buNone/>
            </a:pPr>
            <a:r>
              <a:t>Presentation Title</a:t>
            </a:r>
          </a:p>
        </p:txBody>
      </p:sp>
      <p:sp>
        <p:nvSpPr>
          <p:cNvPr id="20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EE5E4000-107D-4D54-A494-8F79D613ACE0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800894" y="4815459"/>
            <a:ext cx="14647336" cy="12700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3866" tIns="33866" rIns="33866" bIns="33866">
            <a:normAutofit fontScale="100000" lnSpcReduction="0"/>
          </a:bodyPr>
          <a:lstStyle xmlns:a="http://schemas.openxmlformats.org/drawingml/2006/main">
            <a:lvl1pPr marL="0" indent="0" defTabSz="550333">
              <a:spcBef>
                <a:spcPts val="0"/>
              </a:spcBef>
              <a:buSzTx/>
              <a:buFontTx/>
              <a:buNone/>
              <a:defRPr sz="3600" b="1">
                <a:latin typeface="Helvetica Neue"/>
                <a:ea typeface="Helvetica Neue"/>
                <a:cs typeface="Helvetica Neue"/>
              </a:defRPr>
            </a:lvl1pPr>
          </a:lstStyle>
          <a:p xmlns:a="http://schemas.openxmlformats.org/drawingml/2006/main">
            <a:pPr>
              <a:buNone/>
            </a:pPr>
            <a:r>
              <a:t>Presentation Subtitle</a:t>
            </a:r>
          </a:p>
        </p:txBody>
      </p:sp>
      <p:sp>
        <p:nvSpPr>
          <p:cNvPr id="21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0529A88B-1AA1-409A-82F2-FD1538DE3C2F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7998883" y="8729133"/>
            <a:ext cx="249903" cy="241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3866" tIns="33866" rIns="33866" bIns="33866" anchor="b"/>
          <a:lstStyle xmlns:a="http://schemas.openxmlformats.org/drawingml/2006/main">
            <a:lvl1pPr algn="ctr" defTabSz="389466">
              <a:buNone/>
              <a:defRPr>
                <a:latin typeface="Helvetica Neue"/>
                <a:ea typeface="Helvetica Neue"/>
                <a:cs typeface="Helvetica Neue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ff78b6a8164dd3" /><Relationship Type="http://schemas.openxmlformats.org/officeDocument/2006/relationships/slideLayout" Target="/ppt/slideLayouts/slideLayout1.xml" Id="R8421083cc76a46ed" /><Relationship Type="http://schemas.openxmlformats.org/officeDocument/2006/relationships/slideLayout" Target="/ppt/slideLayouts/slideLayout2.xml" Id="Rcf362efa33ae461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文本">
            <a:extLst xmlns:a="http://schemas.openxmlformats.org/drawingml/2006/main">
              <a:ext uri="{FF2B5EF4-FFF2-40B4-BE49-F238E27FC236}">
                <a16:creationId xmlns:a16="http://schemas.microsoft.com/office/drawing/2014/main" id="{ED8F26FF-B6BF-4332-81A3-3006C56E0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122766"/>
            <a:ext cx="14630400" cy="201083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标题文本</a:t>
            </a:r>
          </a:p>
        </p:txBody>
      </p:sp>
      <p:sp>
        <p:nvSpPr>
          <p:cNvPr id="3" name="正文级别 1…">
            <a:extLst xmlns:a="http://schemas.openxmlformats.org/drawingml/2006/main">
              <a:ext uri="{FF2B5EF4-FFF2-40B4-BE49-F238E27FC236}">
                <a16:creationId xmlns:a16="http://schemas.microsoft.com/office/drawing/2014/main" id="{C127E81F-3DF1-4350-9A7C-79622FC22B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2800" y="2133600"/>
            <a:ext cx="14630400" cy="7010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  <a:r>
              <a:t>正文级别 1</a:t>
            </a:r>
          </a:p>
          <a:p xmlns:a="http://schemas.openxmlformats.org/drawingml/2006/main">
            <a:pPr lvl="1">
              <a:buNone/>
            </a:pPr>
            <a:r>
              <a:t>正文级别 2</a:t>
            </a:r>
          </a:p>
          <a:p xmlns:a="http://schemas.openxmlformats.org/drawingml/2006/main">
            <a:pPr lvl="2">
              <a:buNone/>
            </a:pPr>
            <a:r>
              <a:t>正文级别 3</a:t>
            </a:r>
          </a:p>
          <a:p xmlns:a="http://schemas.openxmlformats.org/drawingml/2006/main">
            <a:pPr lvl="3">
              <a:buNone/>
            </a:pPr>
            <a:r>
              <a:t>正文级别 4</a:t>
            </a:r>
          </a:p>
          <a:p xmlns:a="http://schemas.openxmlformats.org/drawingml/2006/main">
            <a:pPr lvl="4">
              <a:buNone/>
            </a:pPr>
            <a:r>
              <a:t>正文级别 5</a:t>
            </a:r>
          </a:p>
        </p:txBody>
      </p:sp>
      <p:sp>
        <p:nvSpPr>
          <p:cNvPr id="4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B04F9D86-A342-4BB6-A299-63B32A282C4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7857066" y="8231716"/>
            <a:ext cx="3793068" cy="48683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21083cc76a46ed"/>
    <p:sldLayoutId xmlns:r="http://schemas.openxmlformats.org/officeDocument/2006/relationships" id="2147483650" r:id="Rcf362efa33ae461c"/>
  </p:sldLayoutIdLst>
  <p:txStyles>
    <p:titleStyle>
      <a:lvl1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342900" marR="0" indent="-3429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783771" marR="0" indent="-326571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1219200" marR="0" indent="-3048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17373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1945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32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517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1089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661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233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baa2b7046407e" /><Relationship Type="http://schemas.openxmlformats.org/officeDocument/2006/relationships/image" Target="/ppt/media/image.jpeg" Id="R3183f0a9d40f4ff9" /><Relationship Type="http://schemas.openxmlformats.org/officeDocument/2006/relationships/notesSlide" Target="/ppt/notesSlides/notesSlide1.xml" Id="R29d27db26f1b46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5a415c2e14932" /><Relationship Type="http://schemas.openxmlformats.org/officeDocument/2006/relationships/notesSlide" Target="/ppt/notesSlides/notesSlide2.xml" Id="R4a979ef2277d40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9c7a2769a4025" /><Relationship Type="http://schemas.openxmlformats.org/officeDocument/2006/relationships/notesSlide" Target="/ppt/notesSlides/notesSlide3.xml" Id="Rd5b07d683fb64f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a8e67d54a459d" /><Relationship Type="http://schemas.openxmlformats.org/officeDocument/2006/relationships/notesSlide" Target="/ppt/notesSlides/notesSlide4.xml" Id="R61ee41ddf98546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18a1c4d834531" /><Relationship Type="http://schemas.openxmlformats.org/officeDocument/2006/relationships/notesSlide" Target="/ppt/notesSlides/notesSlide5.xml" Id="R4069282486c84b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5f66fd1da4d13" /><Relationship Type="http://schemas.openxmlformats.org/officeDocument/2006/relationships/notesSlide" Target="/ppt/notesSlides/notesSlide6.xml" Id="Rb8d6da3da55f4b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ba30bb0524e6a" /><Relationship Type="http://schemas.openxmlformats.org/officeDocument/2006/relationships/notesSlide" Target="/ppt/notesSlides/notesSlide7.xml" Id="R2a8b42f43ab743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0f61bed4f4819" /><Relationship Type="http://schemas.openxmlformats.org/officeDocument/2006/relationships/notesSlide" Target="/ppt/notesSlides/notesSlide8.xml" Id="Rff1ed59ce5ef43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f705af8124960" /><Relationship Type="http://schemas.openxmlformats.org/officeDocument/2006/relationships/notesSlide" Target="/ppt/notesSlides/notesSlide9.xml" Id="R3709c955c10347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7c25a4d5845f3" /><Relationship Type="http://schemas.openxmlformats.org/officeDocument/2006/relationships/notesSlide" Target="/ppt/notesSlides/notesSlide10.xml" Id="R1dd9fc649d4749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a15b495ce4cf0" /><Relationship Type="http://schemas.openxmlformats.org/officeDocument/2006/relationships/notesSlide" Target="/ppt/notesSlides/notesSlide11.xml" Id="R5218060a65f94d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1fb8315c74d51" /><Relationship Type="http://schemas.openxmlformats.org/officeDocument/2006/relationships/notesSlide" Target="/ppt/notesSlides/notesSlide12.xml" Id="Ra5491127eeb14e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9f0ada2c34dc6" /><Relationship Type="http://schemas.openxmlformats.org/officeDocument/2006/relationships/notesSlide" Target="/ppt/notesSlides/notesSlide13.xml" Id="R6258131fb4a04d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c530ed6f549bd" /><Relationship Type="http://schemas.openxmlformats.org/officeDocument/2006/relationships/notesSlide" Target="/ppt/notesSlides/notesSlide14.xml" Id="Ref2a546953084e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9f5300c684809" /><Relationship Type="http://schemas.openxmlformats.org/officeDocument/2006/relationships/notesSlide" Target="/ppt/notesSlides/notesSlide15.xml" Id="R176d1ecd98fa40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f2cecf9ee4937" /><Relationship Type="http://schemas.openxmlformats.org/officeDocument/2006/relationships/notesSlide" Target="/ppt/notesSlides/notesSlide16.xml" Id="Radc3a8a08fe84f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7117770a14649" /><Relationship Type="http://schemas.openxmlformats.org/officeDocument/2006/relationships/notesSlide" Target="/ppt/notesSlides/notesSlide17.xml" Id="R1638f3c09c584d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de4e5e9c94d6c" /><Relationship Type="http://schemas.openxmlformats.org/officeDocument/2006/relationships/notesSlide" Target="/ppt/notesSlides/notesSlide18.xml" Id="R18fe4fb8583f4b1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7bf011dd9482e" /><Relationship Type="http://schemas.openxmlformats.org/officeDocument/2006/relationships/notesSlide" Target="/ppt/notesSlides/notesSlide19.xml" Id="R6e45fe5064e74f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b97a05f5c429b" /><Relationship Type="http://schemas.openxmlformats.org/officeDocument/2006/relationships/notesSlide" Target="/ppt/notesSlides/notesSlide20.xml" Id="R63c792bd03144b47" 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F2A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3f0a9d40f4f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0"/>
            <a:ext cx="7874000" cy="9144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1" name="Shape 0">
            <a:extLst xmlns:a="http://schemas.openxmlformats.org/drawingml/2006/main">
              <a:ext uri="{FF2B5EF4-FFF2-40B4-BE49-F238E27FC236}">
                <a16:creationId xmlns:a16="http://schemas.microsoft.com/office/drawing/2014/main" id="{B80E3059-CE08-48CC-A169-36E56550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2997200" cy="9144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F2A36"/>
              </a:gs>
              <a:gs pos="100000">
                <a:srgbClr val="1F2A36">
                  <a:alpha val="0"/>
                </a:srgbClr>
              </a:gs>
            </a:gsLst>
            <a:lin/>
          </a:gra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Text 1">
            <a:extLst xmlns:a="http://schemas.openxmlformats.org/drawingml/2006/main">
              <a:ext uri="{FF2B5EF4-FFF2-40B4-BE49-F238E27FC236}">
                <a16:creationId xmlns:a16="http://schemas.microsoft.com/office/drawing/2014/main" id="{70F8891F-14CD-4E10-86BD-EF8811A2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673" y="508000"/>
            <a:ext cx="1425328" cy="1828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00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33" name="Text 2">
            <a:extLst xmlns:a="http://schemas.openxmlformats.org/drawingml/2006/main">
              <a:ext uri="{FF2B5EF4-FFF2-40B4-BE49-F238E27FC236}">
                <a16:creationId xmlns:a16="http://schemas.microsoft.com/office/drawing/2014/main" id="{A189F13C-7AD0-49AA-85A7-7B656910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413000"/>
            <a:ext cx="2663646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500" spc="4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AI NATIVE TRANSFORMATION · 3 DAYS</a:t>
            </a:r>
          </a:p>
        </p:txBody>
      </p:sp>
      <p:sp>
        <p:nvSpPr>
          <p:cNvPr id="34" name="Text 3">
            <a:extLst xmlns:a="http://schemas.openxmlformats.org/drawingml/2006/main">
              <a:ext uri="{FF2B5EF4-FFF2-40B4-BE49-F238E27FC236}">
                <a16:creationId xmlns:a16="http://schemas.microsoft.com/office/drawing/2014/main" id="{2584B354-7D41-42F8-B28B-2C43908D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952749"/>
            <a:ext cx="5854700" cy="84124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4600" b="1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AI 原生转型种子计划</a:t>
            </a:r>
          </a:p>
        </p:txBody>
      </p:sp>
      <p:sp>
        <p:nvSpPr>
          <p:cNvPr id="35" name="Text 4">
            <a:extLst xmlns:a="http://schemas.openxmlformats.org/drawingml/2006/main">
              <a:ext uri="{FF2B5EF4-FFF2-40B4-BE49-F238E27FC236}">
                <a16:creationId xmlns:a16="http://schemas.microsoft.com/office/drawing/2014/main" id="{A6D2DDC7-5D55-4EC6-BB7C-C41695D0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975100"/>
            <a:ext cx="4607657" cy="40233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200">
                <a:solidFill>
                  <a:srgbClr val="F5F0E4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长三角国家技术创新中心</a:t>
            </a:r>
          </a:p>
        </p:txBody>
      </p:sp>
      <p:sp>
        <p:nvSpPr>
          <p:cNvPr id="36" name="Shape 5">
            <a:extLst xmlns:a="http://schemas.openxmlformats.org/drawingml/2006/main">
              <a:ext uri="{FF2B5EF4-FFF2-40B4-BE49-F238E27FC236}">
                <a16:creationId xmlns:a16="http://schemas.microsoft.com/office/drawing/2014/main" id="{9205A074-B2E3-487A-BFDE-30C6E106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648200"/>
            <a:ext cx="2032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Text 6">
            <a:extLst xmlns:a="http://schemas.openxmlformats.org/drawingml/2006/main">
              <a:ext uri="{FF2B5EF4-FFF2-40B4-BE49-F238E27FC236}">
                <a16:creationId xmlns:a16="http://schemas.microsoft.com/office/drawing/2014/main" id="{5FA64408-0FAA-4BAE-9872-781CF382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902200"/>
            <a:ext cx="1492548" cy="3901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60000"/>
              </a:lnSpc>
              <a:buNone/>
              <a:defRPr sz="1600">
                <a:solidFill>
                  <a:srgbClr val="A89B80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3 DAY MVL SPRINT</a:t>
            </a:r>
          </a:p>
        </p:txBody>
      </p:sp>
      <p:sp>
        <p:nvSpPr>
          <p:cNvPr id="38" name="Shape 7">
            <a:extLst xmlns:a="http://schemas.openxmlformats.org/drawingml/2006/main">
              <a:ext uri="{FF2B5EF4-FFF2-40B4-BE49-F238E27FC236}">
                <a16:creationId xmlns:a16="http://schemas.microsoft.com/office/drawing/2014/main" id="{BA2AD715-B8D4-4AA5-8F3D-D05CF2EE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1214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Text 8">
            <a:extLst xmlns:a="http://schemas.openxmlformats.org/drawingml/2006/main">
              <a:ext uri="{FF2B5EF4-FFF2-40B4-BE49-F238E27FC236}">
                <a16:creationId xmlns:a16="http://schemas.microsoft.com/office/drawing/2014/main" id="{5DB7A848-1078-4B48-994B-D7043C4A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34100"/>
            <a:ext cx="5346700" cy="365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000" b="1">
                <a:solidFill>
                  <a:srgbClr val="F5F0E4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「三天，跑通第一个可进化闭环。」</a:t>
            </a:r>
          </a:p>
        </p:txBody>
      </p:sp>
    </p:spTree>
    <p:extLst>
      <p:ext uri="{BB962C8B-B14F-4D97-AF65-F5344CB8AC3E}">
        <p14:creationId xmlns:p14="http://schemas.microsoft.com/office/powerpoint/2010/main" val="724614174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Shape 0">
            <a:extLst xmlns:a="http://schemas.openxmlformats.org/drawingml/2006/main">
              <a:ext uri="{FF2B5EF4-FFF2-40B4-BE49-F238E27FC236}">
                <a16:creationId xmlns:a16="http://schemas.microsoft.com/office/drawing/2014/main" id="{F31DA8C5-CD1A-4C0C-8727-0E2E0335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8" name="Text 1">
            <a:extLst xmlns:a="http://schemas.openxmlformats.org/drawingml/2006/main">
              <a:ext uri="{FF2B5EF4-FFF2-40B4-BE49-F238E27FC236}">
                <a16:creationId xmlns:a16="http://schemas.microsoft.com/office/drawing/2014/main" id="{F12CC7FF-7DBF-457D-99C3-9C34B744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7657263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三天完成一次可验证的 AI 原生闭环</a:t>
            </a:r>
          </a:p>
        </p:txBody>
      </p:sp>
      <p:sp>
        <p:nvSpPr>
          <p:cNvPr id="149" name="Text 2">
            <a:extLst xmlns:a="http://schemas.openxmlformats.org/drawingml/2006/main">
              <a:ext uri="{FF2B5EF4-FFF2-40B4-BE49-F238E27FC236}">
                <a16:creationId xmlns:a16="http://schemas.microsoft.com/office/drawing/2014/main" id="{1B452E35-C21E-4F72-A477-EC02B743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PROGRAM LOGIC · 02/20</a:t>
            </a:r>
          </a:p>
        </p:txBody>
      </p:sp>
      <p:sp>
        <p:nvSpPr>
          <p:cNvPr id="150" name="Shape 3">
            <a:extLst xmlns:a="http://schemas.openxmlformats.org/drawingml/2006/main">
              <a:ext uri="{FF2B5EF4-FFF2-40B4-BE49-F238E27FC236}">
                <a16:creationId xmlns:a16="http://schemas.microsoft.com/office/drawing/2014/main" id="{8FDF9462-C1A9-492A-8ADC-E3E8B47B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905000"/>
            <a:ext cx="3352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1" name="Text 4">
            <a:extLst xmlns:a="http://schemas.openxmlformats.org/drawingml/2006/main">
              <a:ext uri="{FF2B5EF4-FFF2-40B4-BE49-F238E27FC236}">
                <a16:creationId xmlns:a16="http://schemas.microsoft.com/office/drawing/2014/main" id="{A93DE295-4102-42DA-8ECA-8B595794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4699"/>
            <a:ext cx="944365" cy="7315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40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会前</a:t>
            </a:r>
          </a:p>
        </p:txBody>
      </p:sp>
      <p:sp>
        <p:nvSpPr>
          <p:cNvPr id="152" name="Text 5">
            <a:extLst xmlns:a="http://schemas.openxmlformats.org/drawingml/2006/main">
              <a:ext uri="{FF2B5EF4-FFF2-40B4-BE49-F238E27FC236}">
                <a16:creationId xmlns:a16="http://schemas.microsoft.com/office/drawing/2014/main" id="{E3383D6F-B09D-4F1C-A306-BFD99406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803438" cy="317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证据准备</a:t>
            </a:r>
          </a:p>
        </p:txBody>
      </p:sp>
      <p:sp>
        <p:nvSpPr>
          <p:cNvPr id="153" name="Text 6">
            <a:extLst xmlns:a="http://schemas.openxmlformats.org/drawingml/2006/main">
              <a:ext uri="{FF2B5EF4-FFF2-40B4-BE49-F238E27FC236}">
                <a16:creationId xmlns:a16="http://schemas.microsoft.com/office/drawing/2014/main" id="{25A066EF-DDCA-4D90-877A-968CBD51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844800" cy="666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15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案例、数据、答案与流程基线</a:t>
            </a:r>
          </a:p>
        </p:txBody>
      </p:sp>
      <p:sp>
        <p:nvSpPr>
          <p:cNvPr id="154" name="Shape 7">
            <a:extLst xmlns:a="http://schemas.openxmlformats.org/drawingml/2006/main">
              <a:ext uri="{FF2B5EF4-FFF2-40B4-BE49-F238E27FC236}">
                <a16:creationId xmlns:a16="http://schemas.microsoft.com/office/drawing/2014/main" id="{B2C0FE69-308A-4A5F-9A8C-8EB8796C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38500"/>
            <a:ext cx="355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7AA90"/>
            </a:solidFill>
            <a:tailEnd type="triangle"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5" name="Shape 8">
            <a:extLst xmlns:a="http://schemas.openxmlformats.org/drawingml/2006/main">
              <a:ext uri="{FF2B5EF4-FFF2-40B4-BE49-F238E27FC236}">
                <a16:creationId xmlns:a16="http://schemas.microsoft.com/office/drawing/2014/main" id="{A57F664E-B10E-4F8C-913E-870425B6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3352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8A3E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6" name="Shape 9">
            <a:extLst xmlns:a="http://schemas.openxmlformats.org/drawingml/2006/main">
              <a:ext uri="{FF2B5EF4-FFF2-40B4-BE49-F238E27FC236}">
                <a16:creationId xmlns:a16="http://schemas.microsoft.com/office/drawing/2014/main" id="{0C6779E7-A0A3-4AD1-80A3-4CC6CA1E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200" y="2108200"/>
            <a:ext cx="660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7" name="Text 10">
            <a:extLst xmlns:a="http://schemas.openxmlformats.org/drawingml/2006/main">
              <a:ext uri="{FF2B5EF4-FFF2-40B4-BE49-F238E27FC236}">
                <a16:creationId xmlns:a16="http://schemas.microsoft.com/office/drawing/2014/main" id="{70A28DFC-4F8B-4143-AC3C-8DE5F079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49" y="2146300"/>
            <a:ext cx="342901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ctr">
              <a:lnSpc>
                <a:spcPct val="120000"/>
              </a:lnSpc>
              <a:buNone/>
              <a:defRPr sz="1300">
                <a:solidFill>
                  <a:srgbClr val="F5F0E4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现场</a:t>
            </a:r>
          </a:p>
        </p:txBody>
      </p:sp>
      <p:sp>
        <p:nvSpPr>
          <p:cNvPr id="158" name="Text 11">
            <a:extLst xmlns:a="http://schemas.openxmlformats.org/drawingml/2006/main">
              <a:ext uri="{FF2B5EF4-FFF2-40B4-BE49-F238E27FC236}">
                <a16:creationId xmlns:a16="http://schemas.microsoft.com/office/drawing/2014/main" id="{B5F65603-18D8-4B2C-82E7-A1583D6A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2044699"/>
            <a:ext cx="944365" cy="7315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4000" b="1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1</a:t>
            </a:r>
          </a:p>
        </p:txBody>
      </p:sp>
      <p:sp>
        <p:nvSpPr>
          <p:cNvPr id="159" name="Text 12">
            <a:extLst xmlns:a="http://schemas.openxmlformats.org/drawingml/2006/main">
              <a:ext uri="{FF2B5EF4-FFF2-40B4-BE49-F238E27FC236}">
                <a16:creationId xmlns:a16="http://schemas.microsoft.com/office/drawing/2014/main" id="{CD13620C-7896-43AB-BFA6-23FA2A9F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2819400"/>
            <a:ext cx="990613" cy="317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立 Loop</a:t>
            </a:r>
          </a:p>
        </p:txBody>
      </p:sp>
      <p:sp>
        <p:nvSpPr>
          <p:cNvPr id="160" name="Text 13">
            <a:extLst xmlns:a="http://schemas.openxmlformats.org/drawingml/2006/main">
              <a:ext uri="{FF2B5EF4-FFF2-40B4-BE49-F238E27FC236}">
                <a16:creationId xmlns:a16="http://schemas.microsoft.com/office/drawing/2014/main" id="{05771D56-A4A9-4E47-A883-C7472D5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3276600"/>
            <a:ext cx="28448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15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战略对齐、痛点解剖、真实流程与边界冻结</a:t>
            </a:r>
          </a:p>
        </p:txBody>
      </p:sp>
      <p:sp>
        <p:nvSpPr>
          <p:cNvPr id="161" name="Shape 14">
            <a:extLst xmlns:a="http://schemas.openxmlformats.org/drawingml/2006/main">
              <a:ext uri="{FF2B5EF4-FFF2-40B4-BE49-F238E27FC236}">
                <a16:creationId xmlns:a16="http://schemas.microsoft.com/office/drawing/2014/main" id="{A4993BC8-A2CE-44E2-9185-D300DFD3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238500"/>
            <a:ext cx="355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7AA90"/>
            </a:solidFill>
            <a:tailEnd type="triangle"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Shape 15">
            <a:extLst xmlns:a="http://schemas.openxmlformats.org/drawingml/2006/main">
              <a:ext uri="{FF2B5EF4-FFF2-40B4-BE49-F238E27FC236}">
                <a16:creationId xmlns:a16="http://schemas.microsoft.com/office/drawing/2014/main" id="{1E91CF6E-1EDB-42C4-B1DB-CF99C04E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905000"/>
            <a:ext cx="3352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Text 16">
            <a:extLst xmlns:a="http://schemas.openxmlformats.org/drawingml/2006/main">
              <a:ext uri="{FF2B5EF4-FFF2-40B4-BE49-F238E27FC236}">
                <a16:creationId xmlns:a16="http://schemas.microsoft.com/office/drawing/2014/main" id="{CD40E47D-A583-496F-82B3-E5C44FCA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044699"/>
            <a:ext cx="944365" cy="7315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40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2</a:t>
            </a:r>
          </a:p>
        </p:txBody>
      </p:sp>
      <p:sp>
        <p:nvSpPr>
          <p:cNvPr id="164" name="Text 17">
            <a:extLst xmlns:a="http://schemas.openxmlformats.org/drawingml/2006/main">
              <a:ext uri="{FF2B5EF4-FFF2-40B4-BE49-F238E27FC236}">
                <a16:creationId xmlns:a16="http://schemas.microsoft.com/office/drawing/2014/main" id="{6A4C0E26-9CBA-48F3-98E8-9595F820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819400"/>
            <a:ext cx="927100" cy="317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建飞轮</a:t>
            </a:r>
          </a:p>
        </p:txBody>
      </p:sp>
      <p:sp>
        <p:nvSpPr>
          <p:cNvPr id="165" name="Text 18">
            <a:extLst xmlns:a="http://schemas.openxmlformats.org/drawingml/2006/main">
              <a:ext uri="{FF2B5EF4-FFF2-40B4-BE49-F238E27FC236}">
                <a16:creationId xmlns:a16="http://schemas.microsoft.com/office/drawing/2014/main" id="{2934B5E8-FDBB-475C-9D3A-A2668673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3276600"/>
            <a:ext cx="2844800" cy="685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15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Harness、原型、本体与 Eval 同步形成</a:t>
            </a:r>
          </a:p>
        </p:txBody>
      </p:sp>
      <p:sp>
        <p:nvSpPr>
          <p:cNvPr id="166" name="Shape 19">
            <a:extLst xmlns:a="http://schemas.openxmlformats.org/drawingml/2006/main">
              <a:ext uri="{FF2B5EF4-FFF2-40B4-BE49-F238E27FC236}">
                <a16:creationId xmlns:a16="http://schemas.microsoft.com/office/drawing/2014/main" id="{AC2BA68B-D9C2-4BBD-AD52-3A40551D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400" y="3238500"/>
            <a:ext cx="355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7AA90"/>
            </a:solidFill>
            <a:tailEnd type="triangle"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7" name="Shape 20">
            <a:extLst xmlns:a="http://schemas.openxmlformats.org/drawingml/2006/main">
              <a:ext uri="{FF2B5EF4-FFF2-40B4-BE49-F238E27FC236}">
                <a16:creationId xmlns:a16="http://schemas.microsoft.com/office/drawing/2014/main" id="{DE5679A3-A969-4265-9E28-04394468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1905000"/>
            <a:ext cx="3352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8" name="Text 21">
            <a:extLst xmlns:a="http://schemas.openxmlformats.org/drawingml/2006/main">
              <a:ext uri="{FF2B5EF4-FFF2-40B4-BE49-F238E27FC236}">
                <a16:creationId xmlns:a16="http://schemas.microsoft.com/office/drawing/2014/main" id="{FA585915-1BAE-43FD-A06A-0977628A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044699"/>
            <a:ext cx="1226890" cy="7315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40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3</a:t>
            </a:r>
          </a:p>
        </p:txBody>
      </p:sp>
      <p:sp>
        <p:nvSpPr>
          <p:cNvPr id="169" name="Text 22">
            <a:extLst xmlns:a="http://schemas.openxmlformats.org/drawingml/2006/main">
              <a:ext uri="{FF2B5EF4-FFF2-40B4-BE49-F238E27FC236}">
                <a16:creationId xmlns:a16="http://schemas.microsoft.com/office/drawing/2014/main" id="{92F9C117-6BBC-482B-8A22-71427BC5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819400"/>
            <a:ext cx="927100" cy="317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验闭环</a:t>
            </a:r>
          </a:p>
        </p:txBody>
      </p:sp>
      <p:sp>
        <p:nvSpPr>
          <p:cNvPr id="170" name="Text 23">
            <a:extLst xmlns:a="http://schemas.openxmlformats.org/drawingml/2006/main">
              <a:ext uri="{FF2B5EF4-FFF2-40B4-BE49-F238E27FC236}">
                <a16:creationId xmlns:a16="http://schemas.microsoft.com/office/drawing/2014/main" id="{373638CC-2222-4819-99D2-C3FF7AF9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276600"/>
            <a:ext cx="284480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15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三轮验证：能跑、能用、可信</a:t>
            </a:r>
          </a:p>
        </p:txBody>
      </p:sp>
      <p:sp>
        <p:nvSpPr>
          <p:cNvPr id="171" name="Shape 24">
            <a:extLst xmlns:a="http://schemas.openxmlformats.org/drawingml/2006/main">
              <a:ext uri="{FF2B5EF4-FFF2-40B4-BE49-F238E27FC236}">
                <a16:creationId xmlns:a16="http://schemas.microsoft.com/office/drawing/2014/main" id="{F5F12D92-6AA5-421B-B6F2-D7726BB5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461000"/>
            <a:ext cx="14630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2" name="Shape 25">
            <a:extLst xmlns:a="http://schemas.openxmlformats.org/drawingml/2006/main">
              <a:ext uri="{FF2B5EF4-FFF2-40B4-BE49-F238E27FC236}">
                <a16:creationId xmlns:a16="http://schemas.microsoft.com/office/drawing/2014/main" id="{5020089E-0AAA-4CED-B244-7F8ADA92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4610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3" name="Text 26">
            <a:extLst xmlns:a="http://schemas.openxmlformats.org/drawingml/2006/main">
              <a:ext uri="{FF2B5EF4-FFF2-40B4-BE49-F238E27FC236}">
                <a16:creationId xmlns:a16="http://schemas.microsoft.com/office/drawing/2014/main" id="{A38746CE-74E3-469E-9599-D3D08E04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5962649"/>
            <a:ext cx="13462000" cy="92710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压缩的不是关键步骤，而是背景讲解与等待时间。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1000"/>
              </a:spcBef>
              <a:buNone/>
              <a:defRPr sz="24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所有现场活动都由真实案例、真实用户和可检查证据驱动。</a:t>
            </a:r>
          </a:p>
        </p:txBody>
      </p:sp>
      <p:sp>
        <p:nvSpPr>
          <p:cNvPr id="174" name="Shape 27">
            <a:extLst xmlns:a="http://schemas.openxmlformats.org/drawingml/2006/main">
              <a:ext uri="{FF2B5EF4-FFF2-40B4-BE49-F238E27FC236}">
                <a16:creationId xmlns:a16="http://schemas.microsoft.com/office/drawing/2014/main" id="{8A124E97-FB52-4222-9984-F708CB4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5" name="Text 28">
            <a:extLst xmlns:a="http://schemas.openxmlformats.org/drawingml/2006/main">
              <a:ext uri="{FF2B5EF4-FFF2-40B4-BE49-F238E27FC236}">
                <a16:creationId xmlns:a16="http://schemas.microsoft.com/office/drawing/2014/main" id="{2E595402-C3B4-4633-A732-95E1D29E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76" name="Text 29">
            <a:extLst xmlns:a="http://schemas.openxmlformats.org/drawingml/2006/main">
              <a:ext uri="{FF2B5EF4-FFF2-40B4-BE49-F238E27FC236}">
                <a16:creationId xmlns:a16="http://schemas.microsoft.com/office/drawing/2014/main" id="{AA79A086-693D-4B9A-BA56-3E6180F0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582496719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hape 0">
            <a:extLst xmlns:a="http://schemas.openxmlformats.org/drawingml/2006/main">
              <a:ext uri="{FF2B5EF4-FFF2-40B4-BE49-F238E27FC236}">
                <a16:creationId xmlns:a16="http://schemas.microsoft.com/office/drawing/2014/main" id="{C8A34883-39E8-4E3B-B8F7-793593FB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Text 1">
            <a:extLst xmlns:a="http://schemas.openxmlformats.org/drawingml/2006/main">
              <a:ext uri="{FF2B5EF4-FFF2-40B4-BE49-F238E27FC236}">
                <a16:creationId xmlns:a16="http://schemas.microsoft.com/office/drawing/2014/main" id="{034048C3-17CA-464B-9134-5C41C689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842551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3 天 Agenda：每天上午定规则，下午用真实案例推进</a:t>
            </a:r>
          </a:p>
        </p:txBody>
      </p:sp>
      <p:sp>
        <p:nvSpPr>
          <p:cNvPr id="44" name="Text 2">
            <a:extLst xmlns:a="http://schemas.openxmlformats.org/drawingml/2006/main">
              <a:ext uri="{FF2B5EF4-FFF2-40B4-BE49-F238E27FC236}">
                <a16:creationId xmlns:a16="http://schemas.microsoft.com/office/drawing/2014/main" id="{79A9D446-50E7-4556-96C0-4F61F064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AGENDA · 03</a:t>
            </a:r>
          </a:p>
        </p:txBody>
      </p:sp>
      <p:sp>
        <p:nvSpPr>
          <p:cNvPr id="45" name="Shape 3">
            <a:extLst xmlns:a="http://schemas.openxmlformats.org/drawingml/2006/main">
              <a:ext uri="{FF2B5EF4-FFF2-40B4-BE49-F238E27FC236}">
                <a16:creationId xmlns:a16="http://schemas.microsoft.com/office/drawing/2014/main" id="{B06D4566-A533-4903-A674-2B0CFFD5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2159000" cy="241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Text 4">
            <a:extLst xmlns:a="http://schemas.openxmlformats.org/drawingml/2006/main">
              <a:ext uri="{FF2B5EF4-FFF2-40B4-BE49-F238E27FC236}">
                <a16:creationId xmlns:a16="http://schemas.microsoft.com/office/drawing/2014/main" id="{327E612E-B30F-4F80-A517-753FC0D8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81200"/>
            <a:ext cx="792262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1 AM</a:t>
            </a:r>
          </a:p>
        </p:txBody>
      </p:sp>
      <p:sp>
        <p:nvSpPr>
          <p:cNvPr id="47" name="Text 5">
            <a:extLst xmlns:a="http://schemas.openxmlformats.org/drawingml/2006/main">
              <a:ext uri="{FF2B5EF4-FFF2-40B4-BE49-F238E27FC236}">
                <a16:creationId xmlns:a16="http://schemas.microsoft.com/office/drawing/2014/main" id="{D3D420AD-9E69-4A9C-9EF3-59689FA3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514600"/>
            <a:ext cx="1752600" cy="6172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15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战略对齐</a:t>
            </a:r>
          </a:p>
          <a:p xmlns:a="http://schemas.openxmlformats.org/drawingml/2006/main">
            <a:pPr>
              <a:buNone/>
            </a:pPr>
            <a:r>
              <a:t>痛点 Loop 化</a:t>
            </a:r>
          </a:p>
        </p:txBody>
      </p:sp>
      <p:sp>
        <p:nvSpPr>
          <p:cNvPr id="48" name="Shape 6">
            <a:extLst xmlns:a="http://schemas.openxmlformats.org/drawingml/2006/main">
              <a:ext uri="{FF2B5EF4-FFF2-40B4-BE49-F238E27FC236}">
                <a16:creationId xmlns:a16="http://schemas.microsoft.com/office/drawing/2014/main" id="{7FADEA5F-0BF9-4E14-9F2C-26E42427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606800"/>
            <a:ext cx="914400" cy="33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A36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Text 7">
            <a:extLst xmlns:a="http://schemas.openxmlformats.org/drawingml/2006/main">
              <a:ext uri="{FF2B5EF4-FFF2-40B4-BE49-F238E27FC236}">
                <a16:creationId xmlns:a16="http://schemas.microsoft.com/office/drawing/2014/main" id="{4C7BEFC8-AACF-465B-BA5B-1C9DC864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079" y="3670299"/>
            <a:ext cx="50824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ctr">
              <a:lnSpc>
                <a:spcPct val="120000"/>
              </a:lnSpc>
              <a:buNone/>
              <a:defRPr sz="1300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09–12</a:t>
            </a:r>
          </a:p>
        </p:txBody>
      </p:sp>
      <p:sp>
        <p:nvSpPr>
          <p:cNvPr id="50" name="Shape 8">
            <a:extLst xmlns:a="http://schemas.openxmlformats.org/drawingml/2006/main">
              <a:ext uri="{FF2B5EF4-FFF2-40B4-BE49-F238E27FC236}">
                <a16:creationId xmlns:a16="http://schemas.microsoft.com/office/drawing/2014/main" id="{2F03BAD9-8D44-4C21-BA71-39D8C66D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1778000"/>
            <a:ext cx="2159000" cy="241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Text 9">
            <a:extLst xmlns:a="http://schemas.openxmlformats.org/drawingml/2006/main">
              <a:ext uri="{FF2B5EF4-FFF2-40B4-BE49-F238E27FC236}">
                <a16:creationId xmlns:a16="http://schemas.microsoft.com/office/drawing/2014/main" id="{2D25604A-8D4B-4719-ACD1-DC41B9A4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81200"/>
            <a:ext cx="792262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1 PM</a:t>
            </a:r>
          </a:p>
        </p:txBody>
      </p:sp>
      <p:sp>
        <p:nvSpPr>
          <p:cNvPr id="52" name="Text 10">
            <a:extLst xmlns:a="http://schemas.openxmlformats.org/drawingml/2006/main">
              <a:ext uri="{FF2B5EF4-FFF2-40B4-BE49-F238E27FC236}">
                <a16:creationId xmlns:a16="http://schemas.microsoft.com/office/drawing/2014/main" id="{E6D58A23-5330-4972-9F78-C1EDCEBF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1752600" cy="62674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15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Golden Task</a:t>
            </a:r>
          </a:p>
          <a:p xmlns:a="http://schemas.openxmlformats.org/drawingml/2006/main">
            <a:pPr>
              <a:buNone/>
            </a:pPr>
            <a:r>
              <a:t>边界冻结</a:t>
            </a:r>
          </a:p>
        </p:txBody>
      </p:sp>
      <p:sp>
        <p:nvSpPr>
          <p:cNvPr id="53" name="Shape 11">
            <a:extLst xmlns:a="http://schemas.openxmlformats.org/drawingml/2006/main">
              <a:ext uri="{FF2B5EF4-FFF2-40B4-BE49-F238E27FC236}">
                <a16:creationId xmlns:a16="http://schemas.microsoft.com/office/drawing/2014/main" id="{D0359173-C165-4CD0-B3E7-FB48B613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6800"/>
            <a:ext cx="914400" cy="33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A36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" name="Text 12">
            <a:extLst xmlns:a="http://schemas.openxmlformats.org/drawingml/2006/main">
              <a:ext uri="{FF2B5EF4-FFF2-40B4-BE49-F238E27FC236}">
                <a16:creationId xmlns:a16="http://schemas.microsoft.com/office/drawing/2014/main" id="{06B781FB-BABA-40E4-9443-91EF43C4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279" y="3670299"/>
            <a:ext cx="50824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ctr">
              <a:lnSpc>
                <a:spcPct val="120000"/>
              </a:lnSpc>
              <a:buNone/>
              <a:defRPr sz="1300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14–17:30</a:t>
            </a:r>
          </a:p>
        </p:txBody>
      </p:sp>
      <p:sp>
        <p:nvSpPr>
          <p:cNvPr id="55" name="Shape 13">
            <a:extLst xmlns:a="http://schemas.openxmlformats.org/drawingml/2006/main">
              <a:ext uri="{FF2B5EF4-FFF2-40B4-BE49-F238E27FC236}">
                <a16:creationId xmlns:a16="http://schemas.microsoft.com/office/drawing/2014/main" id="{C1E629E5-8E18-42C2-BC67-28DE811D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1778000"/>
            <a:ext cx="2159000" cy="241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ext 14">
            <a:extLst xmlns:a="http://schemas.openxmlformats.org/drawingml/2006/main">
              <a:ext uri="{FF2B5EF4-FFF2-40B4-BE49-F238E27FC236}">
                <a16:creationId xmlns:a16="http://schemas.microsoft.com/office/drawing/2014/main" id="{65CE7569-1848-4E04-8540-298BF8FA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100" y="1981200"/>
            <a:ext cx="792262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2 AM</a:t>
            </a:r>
          </a:p>
        </p:txBody>
      </p:sp>
      <p:sp>
        <p:nvSpPr>
          <p:cNvPr id="57" name="Text 15">
            <a:extLst xmlns:a="http://schemas.openxmlformats.org/drawingml/2006/main">
              <a:ext uri="{FF2B5EF4-FFF2-40B4-BE49-F238E27FC236}">
                <a16:creationId xmlns:a16="http://schemas.microsoft.com/office/drawing/2014/main" id="{58BADF9E-3993-42EF-8CFE-97BFA2B0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100" y="2514600"/>
            <a:ext cx="1752600" cy="6172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15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SJALF Harness</a:t>
            </a:r>
          </a:p>
          <a:p xmlns:a="http://schemas.openxmlformats.org/drawingml/2006/main">
            <a:pPr>
              <a:buNone/>
            </a:pPr>
            <a:r>
              <a:t>质量飞轮</a:t>
            </a:r>
          </a:p>
        </p:txBody>
      </p:sp>
      <p:sp>
        <p:nvSpPr>
          <p:cNvPr id="58" name="Shape 16">
            <a:extLst xmlns:a="http://schemas.openxmlformats.org/drawingml/2006/main">
              <a:ext uri="{FF2B5EF4-FFF2-40B4-BE49-F238E27FC236}">
                <a16:creationId xmlns:a16="http://schemas.microsoft.com/office/drawing/2014/main" id="{D5921F38-A9BF-4A26-BE9E-685F70C6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100" y="3606800"/>
            <a:ext cx="914400" cy="33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A36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" name="Text 17">
            <a:extLst xmlns:a="http://schemas.openxmlformats.org/drawingml/2006/main">
              <a:ext uri="{FF2B5EF4-FFF2-40B4-BE49-F238E27FC236}">
                <a16:creationId xmlns:a16="http://schemas.microsoft.com/office/drawing/2014/main" id="{B4CDAC72-1AD0-42B0-A14F-005AB3BC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179" y="3670299"/>
            <a:ext cx="50824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ctr">
              <a:lnSpc>
                <a:spcPct val="120000"/>
              </a:lnSpc>
              <a:buNone/>
              <a:defRPr sz="1300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09–12</a:t>
            </a:r>
          </a:p>
        </p:txBody>
      </p:sp>
      <p:sp>
        <p:nvSpPr>
          <p:cNvPr id="60" name="Shape 18">
            <a:extLst xmlns:a="http://schemas.openxmlformats.org/drawingml/2006/main">
              <a:ext uri="{FF2B5EF4-FFF2-40B4-BE49-F238E27FC236}">
                <a16:creationId xmlns:a16="http://schemas.microsoft.com/office/drawing/2014/main" id="{55008197-7674-4B68-949A-510E2343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1778000"/>
            <a:ext cx="2159000" cy="241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8A3E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" name="Text 19">
            <a:extLst xmlns:a="http://schemas.openxmlformats.org/drawingml/2006/main">
              <a:ext uri="{FF2B5EF4-FFF2-40B4-BE49-F238E27FC236}">
                <a16:creationId xmlns:a16="http://schemas.microsoft.com/office/drawing/2014/main" id="{1D1EAA2E-7A76-46D5-8F4F-F3EC6E57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792262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2 PM</a:t>
            </a:r>
          </a:p>
        </p:txBody>
      </p:sp>
      <p:sp>
        <p:nvSpPr>
          <p:cNvPr id="62" name="Text 20">
            <a:extLst xmlns:a="http://schemas.openxmlformats.org/drawingml/2006/main">
              <a:ext uri="{FF2B5EF4-FFF2-40B4-BE49-F238E27FC236}">
                <a16:creationId xmlns:a16="http://schemas.microsoft.com/office/drawing/2014/main" id="{871D5D48-0DF1-4D2F-A41E-57B7DA64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14600"/>
            <a:ext cx="1752600" cy="6172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15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原型两轮迭代</a:t>
            </a:r>
          </a:p>
          <a:p xmlns:a="http://schemas.openxmlformats.org/drawingml/2006/main">
            <a:pPr>
              <a:buNone/>
            </a:pPr>
            <a:r>
              <a:t>本体与 Eval</a:t>
            </a:r>
          </a:p>
        </p:txBody>
      </p:sp>
      <p:sp>
        <p:nvSpPr>
          <p:cNvPr id="63" name="Shape 21">
            <a:extLst xmlns:a="http://schemas.openxmlformats.org/drawingml/2006/main">
              <a:ext uri="{FF2B5EF4-FFF2-40B4-BE49-F238E27FC236}">
                <a16:creationId xmlns:a16="http://schemas.microsoft.com/office/drawing/2014/main" id="{0AC06EB8-3C3C-4B0E-B496-0504267D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6800"/>
            <a:ext cx="914400" cy="33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Text 22">
            <a:extLst xmlns:a="http://schemas.openxmlformats.org/drawingml/2006/main">
              <a:ext uri="{FF2B5EF4-FFF2-40B4-BE49-F238E27FC236}">
                <a16:creationId xmlns:a16="http://schemas.microsoft.com/office/drawing/2014/main" id="{F4327CA1-5A39-4419-BC88-B7EF1618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379" y="3670299"/>
            <a:ext cx="50824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ctr">
              <a:lnSpc>
                <a:spcPct val="120000"/>
              </a:lnSpc>
              <a:buNone/>
              <a:defRPr sz="1300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14–17:30</a:t>
            </a:r>
          </a:p>
        </p:txBody>
      </p:sp>
      <p:sp>
        <p:nvSpPr>
          <p:cNvPr id="65" name="Shape 23">
            <a:extLst xmlns:a="http://schemas.openxmlformats.org/drawingml/2006/main">
              <a:ext uri="{FF2B5EF4-FFF2-40B4-BE49-F238E27FC236}">
                <a16:creationId xmlns:a16="http://schemas.microsoft.com/office/drawing/2014/main" id="{51B26B46-B06B-4A62-8FDF-8ED7AC5B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0" y="1778000"/>
            <a:ext cx="2159000" cy="241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Text 24">
            <a:extLst xmlns:a="http://schemas.openxmlformats.org/drawingml/2006/main">
              <a:ext uri="{FF2B5EF4-FFF2-40B4-BE49-F238E27FC236}">
                <a16:creationId xmlns:a16="http://schemas.microsoft.com/office/drawing/2014/main" id="{7117D1A2-CB59-4CCB-91A5-812046DE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0" y="1981200"/>
            <a:ext cx="792262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3 AM</a:t>
            </a:r>
          </a:p>
        </p:txBody>
      </p:sp>
      <p:sp>
        <p:nvSpPr>
          <p:cNvPr id="67" name="Text 25">
            <a:extLst xmlns:a="http://schemas.openxmlformats.org/drawingml/2006/main">
              <a:ext uri="{FF2B5EF4-FFF2-40B4-BE49-F238E27FC236}">
                <a16:creationId xmlns:a16="http://schemas.microsoft.com/office/drawing/2014/main" id="{FD7D57FA-AC59-49B6-B755-A69F9F86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0" y="2514600"/>
            <a:ext cx="1752600" cy="6172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15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Functional</a:t>
            </a:r>
          </a:p>
          <a:p xmlns:a="http://schemas.openxmlformats.org/drawingml/2006/main">
            <a:pPr>
              <a:buNone/>
            </a:pPr>
            <a:r>
              <a:t>Usable</a:t>
            </a:r>
          </a:p>
        </p:txBody>
      </p:sp>
      <p:sp>
        <p:nvSpPr>
          <p:cNvPr id="68" name="Shape 26">
            <a:extLst xmlns:a="http://schemas.openxmlformats.org/drawingml/2006/main">
              <a:ext uri="{FF2B5EF4-FFF2-40B4-BE49-F238E27FC236}">
                <a16:creationId xmlns:a16="http://schemas.microsoft.com/office/drawing/2014/main" id="{7A3A5EC2-D586-4267-9F24-A9928792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0" y="3606800"/>
            <a:ext cx="914400" cy="33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A36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" name="Text 27">
            <a:extLst xmlns:a="http://schemas.openxmlformats.org/drawingml/2006/main">
              <a:ext uri="{FF2B5EF4-FFF2-40B4-BE49-F238E27FC236}">
                <a16:creationId xmlns:a16="http://schemas.microsoft.com/office/drawing/2014/main" id="{42FEFB40-0DD5-4DB2-AAFF-34C71E06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279" y="3670299"/>
            <a:ext cx="50824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ctr">
              <a:lnSpc>
                <a:spcPct val="120000"/>
              </a:lnSpc>
              <a:buNone/>
              <a:defRPr sz="1300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09–12</a:t>
            </a:r>
          </a:p>
        </p:txBody>
      </p:sp>
      <p:sp>
        <p:nvSpPr>
          <p:cNvPr id="70" name="Shape 28">
            <a:extLst xmlns:a="http://schemas.openxmlformats.org/drawingml/2006/main">
              <a:ext uri="{FF2B5EF4-FFF2-40B4-BE49-F238E27FC236}">
                <a16:creationId xmlns:a16="http://schemas.microsoft.com/office/drawing/2014/main" id="{AF4E1E10-F302-4848-8DE9-7894940F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4200" y="1778000"/>
            <a:ext cx="2159000" cy="241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" name="Text 29">
            <a:extLst xmlns:a="http://schemas.openxmlformats.org/drawingml/2006/main">
              <a:ext uri="{FF2B5EF4-FFF2-40B4-BE49-F238E27FC236}">
                <a16:creationId xmlns:a16="http://schemas.microsoft.com/office/drawing/2014/main" id="{2131E054-7F0E-4DF3-AA3B-C3CB309F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981200"/>
            <a:ext cx="792262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3 PM</a:t>
            </a:r>
          </a:p>
        </p:txBody>
      </p:sp>
      <p:sp>
        <p:nvSpPr>
          <p:cNvPr id="72" name="Text 30">
            <a:extLst xmlns:a="http://schemas.openxmlformats.org/drawingml/2006/main">
              <a:ext uri="{FF2B5EF4-FFF2-40B4-BE49-F238E27FC236}">
                <a16:creationId xmlns:a16="http://schemas.microsoft.com/office/drawing/2014/main" id="{EBF7EEC9-75FF-42C5-9555-E02A3491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514600"/>
            <a:ext cx="1752600" cy="6172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15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Trustworthy</a:t>
            </a:r>
          </a:p>
          <a:p xmlns:a="http://schemas.openxmlformats.org/drawingml/2006/main">
            <a:pPr>
              <a:buNone/>
            </a:pPr>
            <a:r>
              <a:t>6 周启动</a:t>
            </a:r>
          </a:p>
        </p:txBody>
      </p:sp>
      <p:sp>
        <p:nvSpPr>
          <p:cNvPr id="73" name="Shape 31">
            <a:extLst xmlns:a="http://schemas.openxmlformats.org/drawingml/2006/main">
              <a:ext uri="{FF2B5EF4-FFF2-40B4-BE49-F238E27FC236}">
                <a16:creationId xmlns:a16="http://schemas.microsoft.com/office/drawing/2014/main" id="{B0A8D3AD-59A3-4AE9-B4D2-3623A0EC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606800"/>
            <a:ext cx="914400" cy="33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A36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Text 32">
            <a:extLst xmlns:a="http://schemas.openxmlformats.org/drawingml/2006/main">
              <a:ext uri="{FF2B5EF4-FFF2-40B4-BE49-F238E27FC236}">
                <a16:creationId xmlns:a16="http://schemas.microsoft.com/office/drawing/2014/main" id="{3F92350C-555F-4DE4-A8CF-E389748E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0479" y="3670299"/>
            <a:ext cx="50824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ctr">
              <a:lnSpc>
                <a:spcPct val="120000"/>
              </a:lnSpc>
              <a:buNone/>
              <a:defRPr sz="1300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14–17:30</a:t>
            </a:r>
          </a:p>
        </p:txBody>
      </p:sp>
      <p:sp>
        <p:nvSpPr>
          <p:cNvPr id="75" name="Shape 33">
            <a:extLst xmlns:a="http://schemas.openxmlformats.org/drawingml/2006/main">
              <a:ext uri="{FF2B5EF4-FFF2-40B4-BE49-F238E27FC236}">
                <a16:creationId xmlns:a16="http://schemas.microsoft.com/office/drawing/2014/main" id="{8F53D37D-E6D9-4CDB-91C2-53EE8FBF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470400"/>
            <a:ext cx="14630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6" name="Text 34">
            <a:extLst xmlns:a="http://schemas.openxmlformats.org/drawingml/2006/main">
              <a:ext uri="{FF2B5EF4-FFF2-40B4-BE49-F238E27FC236}">
                <a16:creationId xmlns:a16="http://schemas.microsoft.com/office/drawing/2014/main" id="{0BAA9C75-9DCF-4DB7-ADFF-6DEFD5F7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253" y="4635500"/>
            <a:ext cx="1012894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ct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午休 12:00–14:00</a:t>
            </a:r>
          </a:p>
        </p:txBody>
      </p:sp>
      <p:sp>
        <p:nvSpPr>
          <p:cNvPr id="77" name="Shape 35">
            <a:extLst xmlns:a="http://schemas.openxmlformats.org/drawingml/2006/main">
              <a:ext uri="{FF2B5EF4-FFF2-40B4-BE49-F238E27FC236}">
                <a16:creationId xmlns:a16="http://schemas.microsoft.com/office/drawing/2014/main" id="{641D8B0D-B50E-42DB-B669-2DB5CE54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080000"/>
            <a:ext cx="146304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Text 36">
            <a:extLst xmlns:a="http://schemas.openxmlformats.org/drawingml/2006/main">
              <a:ext uri="{FF2B5EF4-FFF2-40B4-BE49-F238E27FC236}">
                <a16:creationId xmlns:a16="http://schemas.microsoft.com/office/drawing/2014/main" id="{23FCA48C-F8BF-47CA-97D6-35D177F8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5283200"/>
            <a:ext cx="1155700" cy="317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三天关键产出</a:t>
            </a:r>
          </a:p>
        </p:txBody>
      </p:sp>
      <p:sp>
        <p:nvSpPr>
          <p:cNvPr id="79" name="Shape 37">
            <a:extLst xmlns:a="http://schemas.openxmlformats.org/drawingml/2006/main">
              <a:ext uri="{FF2B5EF4-FFF2-40B4-BE49-F238E27FC236}">
                <a16:creationId xmlns:a16="http://schemas.microsoft.com/office/drawing/2014/main" id="{34C44BCF-6046-45BB-832F-CDE3CAA6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5791200"/>
            <a:ext cx="44704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0" name="Text 38">
            <a:extLst xmlns:a="http://schemas.openxmlformats.org/drawingml/2006/main">
              <a:ext uri="{FF2B5EF4-FFF2-40B4-BE49-F238E27FC236}">
                <a16:creationId xmlns:a16="http://schemas.microsoft.com/office/drawing/2014/main" id="{63EC3FCB-23E6-4A60-B979-E8739A20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07100"/>
            <a:ext cx="1254721" cy="2926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01　3 份 MVL 宪章</a:t>
            </a:r>
          </a:p>
        </p:txBody>
      </p:sp>
      <p:sp>
        <p:nvSpPr>
          <p:cNvPr id="81" name="Shape 39">
            <a:extLst xmlns:a="http://schemas.openxmlformats.org/drawingml/2006/main">
              <a:ext uri="{FF2B5EF4-FFF2-40B4-BE49-F238E27FC236}">
                <a16:creationId xmlns:a16="http://schemas.microsoft.com/office/drawing/2014/main" id="{E6420695-0E60-41FE-AC9F-5AC1B072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791200"/>
            <a:ext cx="44704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Text 40">
            <a:extLst xmlns:a="http://schemas.openxmlformats.org/drawingml/2006/main">
              <a:ext uri="{FF2B5EF4-FFF2-40B4-BE49-F238E27FC236}">
                <a16:creationId xmlns:a16="http://schemas.microsoft.com/office/drawing/2014/main" id="{19B4D85B-22F6-485D-9A49-3EFE3959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6007100"/>
            <a:ext cx="1051521" cy="2926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02　3 张 Harness 蓝图</a:t>
            </a:r>
          </a:p>
        </p:txBody>
      </p:sp>
      <p:sp>
        <p:nvSpPr>
          <p:cNvPr id="83" name="Shape 41">
            <a:extLst xmlns:a="http://schemas.openxmlformats.org/drawingml/2006/main">
              <a:ext uri="{FF2B5EF4-FFF2-40B4-BE49-F238E27FC236}">
                <a16:creationId xmlns:a16="http://schemas.microsoft.com/office/drawing/2014/main" id="{0A5F78C3-3995-404D-A8A2-7F877B5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91200"/>
            <a:ext cx="44704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Text 42">
            <a:extLst xmlns:a="http://schemas.openxmlformats.org/drawingml/2006/main">
              <a:ext uri="{FF2B5EF4-FFF2-40B4-BE49-F238E27FC236}">
                <a16:creationId xmlns:a16="http://schemas.microsoft.com/office/drawing/2014/main" id="{D1B54C36-75D9-4D2F-9FF5-8CA08A27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007100"/>
            <a:ext cx="1254721" cy="2926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03　3 个沙盒原型</a:t>
            </a:r>
          </a:p>
        </p:txBody>
      </p:sp>
      <p:sp>
        <p:nvSpPr>
          <p:cNvPr id="85" name="Shape 43">
            <a:extLst xmlns:a="http://schemas.openxmlformats.org/drawingml/2006/main">
              <a:ext uri="{FF2B5EF4-FFF2-40B4-BE49-F238E27FC236}">
                <a16:creationId xmlns:a16="http://schemas.microsoft.com/office/drawing/2014/main" id="{3F56C201-C3E6-4334-9DB5-EE20F71C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6756400"/>
            <a:ext cx="44704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Text 44">
            <a:extLst xmlns:a="http://schemas.openxmlformats.org/drawingml/2006/main">
              <a:ext uri="{FF2B5EF4-FFF2-40B4-BE49-F238E27FC236}">
                <a16:creationId xmlns:a16="http://schemas.microsoft.com/office/drawing/2014/main" id="{95C4E672-0E4C-4CC3-95D1-0D9EA05B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72300"/>
            <a:ext cx="1254721" cy="2926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04　30+ Eval 种子</a:t>
            </a:r>
          </a:p>
        </p:txBody>
      </p:sp>
      <p:sp>
        <p:nvSpPr>
          <p:cNvPr id="87" name="Shape 45">
            <a:extLst xmlns:a="http://schemas.openxmlformats.org/drawingml/2006/main">
              <a:ext uri="{FF2B5EF4-FFF2-40B4-BE49-F238E27FC236}">
                <a16:creationId xmlns:a16="http://schemas.microsoft.com/office/drawing/2014/main" id="{73E07A74-631B-439C-94C3-28B21113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6756400"/>
            <a:ext cx="44704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Text 46">
            <a:extLst xmlns:a="http://schemas.openxmlformats.org/drawingml/2006/main">
              <a:ext uri="{FF2B5EF4-FFF2-40B4-BE49-F238E27FC236}">
                <a16:creationId xmlns:a16="http://schemas.microsoft.com/office/drawing/2014/main" id="{FC141A57-C945-479F-9803-C2F5A3CE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6972300"/>
            <a:ext cx="2033786" cy="2926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05　三轮验证证据</a:t>
            </a:r>
          </a:p>
        </p:txBody>
      </p:sp>
      <p:sp>
        <p:nvSpPr>
          <p:cNvPr id="89" name="Shape 47">
            <a:extLst xmlns:a="http://schemas.openxmlformats.org/drawingml/2006/main">
              <a:ext uri="{FF2B5EF4-FFF2-40B4-BE49-F238E27FC236}">
                <a16:creationId xmlns:a16="http://schemas.microsoft.com/office/drawing/2014/main" id="{74C5A520-40F7-444D-BB82-329C50F0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56400"/>
            <a:ext cx="44704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Text 48">
            <a:extLst xmlns:a="http://schemas.openxmlformats.org/drawingml/2006/main">
              <a:ext uri="{FF2B5EF4-FFF2-40B4-BE49-F238E27FC236}">
                <a16:creationId xmlns:a16="http://schemas.microsoft.com/office/drawing/2014/main" id="{DBFCC2ED-F520-4F24-883F-0FEE980F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972300"/>
            <a:ext cx="2215158" cy="2926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06　6 周启动路线图</a:t>
            </a:r>
          </a:p>
        </p:txBody>
      </p:sp>
      <p:sp>
        <p:nvSpPr>
          <p:cNvPr id="91" name="Shape 49">
            <a:extLst xmlns:a="http://schemas.openxmlformats.org/drawingml/2006/main">
              <a:ext uri="{FF2B5EF4-FFF2-40B4-BE49-F238E27FC236}">
                <a16:creationId xmlns:a16="http://schemas.microsoft.com/office/drawing/2014/main" id="{3D916224-71CA-4138-9810-6A751037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Text 50">
            <a:extLst xmlns:a="http://schemas.openxmlformats.org/drawingml/2006/main">
              <a:ext uri="{FF2B5EF4-FFF2-40B4-BE49-F238E27FC236}">
                <a16:creationId xmlns:a16="http://schemas.microsoft.com/office/drawing/2014/main" id="{DE20950F-1385-4755-A249-EAA7B95E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34293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93" name="Text 51">
            <a:extLst xmlns:a="http://schemas.openxmlformats.org/drawingml/2006/main">
              <a:ext uri="{FF2B5EF4-FFF2-40B4-BE49-F238E27FC236}">
                <a16:creationId xmlns:a16="http://schemas.microsoft.com/office/drawing/2014/main" id="{739D8BFD-31CF-4EFF-84FF-1A09B8FA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3/20</a:t>
            </a:r>
          </a:p>
        </p:txBody>
      </p:sp>
    </p:spTree>
    <p:extLst>
      <p:ext uri="{BB962C8B-B14F-4D97-AF65-F5344CB8AC3E}">
        <p14:creationId xmlns:p14="http://schemas.microsoft.com/office/powerpoint/2010/main" val="1189754747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3" name="Shape 0">
            <a:extLst xmlns:a="http://schemas.openxmlformats.org/drawingml/2006/main">
              <a:ext uri="{FF2B5EF4-FFF2-40B4-BE49-F238E27FC236}">
                <a16:creationId xmlns:a16="http://schemas.microsoft.com/office/drawing/2014/main" id="{2918E2B3-1ED5-4EEA-8D94-24626DD3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4" name="Text 1">
            <a:extLst xmlns:a="http://schemas.openxmlformats.org/drawingml/2006/main">
              <a:ext uri="{FF2B5EF4-FFF2-40B4-BE49-F238E27FC236}">
                <a16:creationId xmlns:a16="http://schemas.microsoft.com/office/drawing/2014/main" id="{46BD1654-52E5-4106-95D2-5F24F51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797345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会前准备：现场的一切从 Evidence Pack 开始</a:t>
            </a:r>
          </a:p>
        </p:txBody>
      </p:sp>
      <p:sp>
        <p:nvSpPr>
          <p:cNvPr id="405" name="Text 2">
            <a:extLst xmlns:a="http://schemas.openxmlformats.org/drawingml/2006/main">
              <a:ext uri="{FF2B5EF4-FFF2-40B4-BE49-F238E27FC236}">
                <a16:creationId xmlns:a16="http://schemas.microsoft.com/office/drawing/2014/main" id="{A892E66B-0B3C-4E5B-9724-8DC55F13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492" y="622300"/>
            <a:ext cx="1774708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PRE-WORK · 04/20</a:t>
            </a:r>
          </a:p>
        </p:txBody>
      </p:sp>
      <p:sp>
        <p:nvSpPr>
          <p:cNvPr id="406" name="Shape 3">
            <a:extLst xmlns:a="http://schemas.openxmlformats.org/drawingml/2006/main">
              <a:ext uri="{FF2B5EF4-FFF2-40B4-BE49-F238E27FC236}">
                <a16:creationId xmlns:a16="http://schemas.microsoft.com/office/drawing/2014/main" id="{DAF1CB4F-D851-466C-B836-DBCFF4D9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193800"/>
            <a:ext cx="2743200" cy="355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A36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7" name="Text 4">
            <a:extLst xmlns:a="http://schemas.openxmlformats.org/drawingml/2006/main">
              <a:ext uri="{FF2B5EF4-FFF2-40B4-BE49-F238E27FC236}">
                <a16:creationId xmlns:a16="http://schemas.microsoft.com/office/drawing/2014/main" id="{85F5A2C1-6190-4456-919F-31C17078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47" y="1263649"/>
            <a:ext cx="1782106" cy="25603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ctr">
              <a:lnSpc>
                <a:spcPct val="120000"/>
              </a:lnSpc>
              <a:buNone/>
              <a:defRPr sz="1400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会前 2 个工作日完成</a:t>
            </a:r>
          </a:p>
        </p:txBody>
      </p:sp>
      <p:sp>
        <p:nvSpPr>
          <p:cNvPr id="408" name="Shape 5">
            <a:extLst xmlns:a="http://schemas.openxmlformats.org/drawingml/2006/main">
              <a:ext uri="{FF2B5EF4-FFF2-40B4-BE49-F238E27FC236}">
                <a16:creationId xmlns:a16="http://schemas.microsoft.com/office/drawing/2014/main" id="{FA2C9518-BE86-4C9E-8BB8-05DF9D31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5334000" cy="44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" name="Text 6">
            <a:extLst xmlns:a="http://schemas.openxmlformats.org/drawingml/2006/main">
              <a:ext uri="{FF2B5EF4-FFF2-40B4-BE49-F238E27FC236}">
                <a16:creationId xmlns:a16="http://schemas.microsoft.com/office/drawing/2014/main" id="{F5C077B4-7768-42FC-8D1F-F67EE2B3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1841500" cy="317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每组角色</a:t>
            </a:r>
          </a:p>
        </p:txBody>
      </p:sp>
      <p:sp>
        <p:nvSpPr>
          <p:cNvPr id="410" name="Text 7">
            <a:extLst xmlns:a="http://schemas.openxmlformats.org/drawingml/2006/main">
              <a:ext uri="{FF2B5EF4-FFF2-40B4-BE49-F238E27FC236}">
                <a16:creationId xmlns:a16="http://schemas.microsoft.com/office/drawing/2014/main" id="{F5D6A286-B766-4024-BCB9-C5B45780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616200"/>
            <a:ext cx="4724400" cy="2654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1 名场景 Owner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1 名业务专家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2–3 名一线用户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1 名数据负责人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1 名技术接口人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6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1 名主持 / 记录员</a:t>
            </a:r>
          </a:p>
        </p:txBody>
      </p:sp>
      <p:sp>
        <p:nvSpPr>
          <p:cNvPr id="411" name="Shape 8">
            <a:extLst xmlns:a="http://schemas.openxmlformats.org/drawingml/2006/main">
              <a:ext uri="{FF2B5EF4-FFF2-40B4-BE49-F238E27FC236}">
                <a16:creationId xmlns:a16="http://schemas.microsoft.com/office/drawing/2014/main" id="{F598560A-4F71-47BC-942A-70AA389D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778000"/>
            <a:ext cx="8991600" cy="44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2" name="Text 9">
            <a:extLst xmlns:a="http://schemas.openxmlformats.org/drawingml/2006/main">
              <a:ext uri="{FF2B5EF4-FFF2-40B4-BE49-F238E27FC236}">
                <a16:creationId xmlns:a16="http://schemas.microsoft.com/office/drawing/2014/main" id="{46E6EC01-A0E4-4DCF-AD93-6B62470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0" y="2057400"/>
            <a:ext cx="3963417" cy="317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Evidence Pack 清单</a:t>
            </a:r>
          </a:p>
        </p:txBody>
      </p:sp>
      <p:sp>
        <p:nvSpPr>
          <p:cNvPr id="413" name="Text 10">
            <a:extLst xmlns:a="http://schemas.openxmlformats.org/drawingml/2006/main">
              <a:ext uri="{FF2B5EF4-FFF2-40B4-BE49-F238E27FC236}">
                <a16:creationId xmlns:a16="http://schemas.microsoft.com/office/drawing/2014/main" id="{13A525A8-3587-48C1-80DF-9B03D718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0" y="2616200"/>
            <a:ext cx="8382000" cy="217932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① 1 个 Golden Task 与专家参考答案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② 3 组脱敏数据：标准、复杂、异常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③ 当前基线：耗时、返工、风险结果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④ 流程、规则、模板与历史案例</a:t>
            </a:r>
          </a:p>
          <a:p xmlns:a="http://schemas.openxmlformats.org/drawingml/2006/main">
            <a:pPr>
              <a:lnSpc>
                <a:spcPct val="170000"/>
              </a:lnSpc>
              <a:buNone/>
              <a:defRPr sz="16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⑤ 系统、数据、权限与安全边界</a:t>
            </a:r>
          </a:p>
        </p:txBody>
      </p:sp>
      <p:sp>
        <p:nvSpPr>
          <p:cNvPr id="414" name="Shape 11">
            <a:extLst xmlns:a="http://schemas.openxmlformats.org/drawingml/2006/main">
              <a:ext uri="{FF2B5EF4-FFF2-40B4-BE49-F238E27FC236}">
                <a16:creationId xmlns:a16="http://schemas.microsoft.com/office/drawing/2014/main" id="{3C4D4CEB-FBE9-4C14-A1B1-8D17DC39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604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Shape 12">
            <a:extLst xmlns:a="http://schemas.openxmlformats.org/drawingml/2006/main">
              <a:ext uri="{FF2B5EF4-FFF2-40B4-BE49-F238E27FC236}">
                <a16:creationId xmlns:a16="http://schemas.microsoft.com/office/drawing/2014/main" id="{29630115-ACE5-46F7-9AC0-FF19FED5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604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Text 13">
            <a:extLst xmlns:a="http://schemas.openxmlformats.org/drawingml/2006/main">
              <a:ext uri="{FF2B5EF4-FFF2-40B4-BE49-F238E27FC236}">
                <a16:creationId xmlns:a16="http://schemas.microsoft.com/office/drawing/2014/main" id="{86CFACC6-1702-40DD-8418-2D3B15E2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6904989"/>
            <a:ext cx="13462000" cy="79502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准入标准：证据齐套、数据脱敏、Owner 到场、决策权明确。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800"/>
              </a:spcBef>
              <a:buNone/>
              <a:defRPr sz="15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没有真实案例的场景，不进入现场原型构建。</a:t>
            </a:r>
          </a:p>
        </p:txBody>
      </p:sp>
      <p:sp>
        <p:nvSpPr>
          <p:cNvPr id="417" name="Shape 14">
            <a:extLst xmlns:a="http://schemas.openxmlformats.org/drawingml/2006/main">
              <a:ext uri="{FF2B5EF4-FFF2-40B4-BE49-F238E27FC236}">
                <a16:creationId xmlns:a16="http://schemas.microsoft.com/office/drawing/2014/main" id="{25D1FF5B-B1D0-4B61-9E27-9E6617A0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8" name="Text 15">
            <a:extLst xmlns:a="http://schemas.openxmlformats.org/drawingml/2006/main">
              <a:ext uri="{FF2B5EF4-FFF2-40B4-BE49-F238E27FC236}">
                <a16:creationId xmlns:a16="http://schemas.microsoft.com/office/drawing/2014/main" id="{7CB7D32B-B264-4FB5-BA5A-5BBE8CE5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419" name="Text 16">
            <a:extLst xmlns:a="http://schemas.openxmlformats.org/drawingml/2006/main">
              <a:ext uri="{FF2B5EF4-FFF2-40B4-BE49-F238E27FC236}">
                <a16:creationId xmlns:a16="http://schemas.microsoft.com/office/drawing/2014/main" id="{A34138EA-81E5-4A5E-A18E-E06490C9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5681" y="8724899"/>
            <a:ext cx="467520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1720152905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F2A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Text 0">
            <a:extLst xmlns:a="http://schemas.openxmlformats.org/drawingml/2006/main">
              <a:ext uri="{FF2B5EF4-FFF2-40B4-BE49-F238E27FC236}">
                <a16:creationId xmlns:a16="http://schemas.microsoft.com/office/drawing/2014/main" id="{470F39CA-C057-448D-8396-C76D58E1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206499"/>
            <a:ext cx="2131641" cy="2743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50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79" name="Text 1">
            <a:extLst xmlns:a="http://schemas.openxmlformats.org/drawingml/2006/main">
              <a:ext uri="{FF2B5EF4-FFF2-40B4-BE49-F238E27FC236}">
                <a16:creationId xmlns:a16="http://schemas.microsoft.com/office/drawing/2014/main" id="{DCB0D896-2F7E-4CC5-98A2-24991139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937000"/>
            <a:ext cx="3354047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500" spc="400">
                <a:solidFill>
                  <a:srgbClr val="A89B80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1 · 立 LOOP</a:t>
            </a:r>
          </a:p>
        </p:txBody>
      </p:sp>
      <p:sp>
        <p:nvSpPr>
          <p:cNvPr id="180" name="Text 2">
            <a:extLst xmlns:a="http://schemas.openxmlformats.org/drawingml/2006/main">
              <a:ext uri="{FF2B5EF4-FFF2-40B4-BE49-F238E27FC236}">
                <a16:creationId xmlns:a16="http://schemas.microsoft.com/office/drawing/2014/main" id="{713F95E8-14FD-4C00-8F0C-98EF92A1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470399"/>
            <a:ext cx="14744700" cy="8229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4000" b="1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「先把问题翻译成循环，再讨论 Agent 应该做什么。」</a:t>
            </a:r>
          </a:p>
        </p:txBody>
      </p:sp>
      <p:sp>
        <p:nvSpPr>
          <p:cNvPr id="181" name="Shape 3">
            <a:extLst xmlns:a="http://schemas.openxmlformats.org/drawingml/2006/main">
              <a:ext uri="{FF2B5EF4-FFF2-40B4-BE49-F238E27FC236}">
                <a16:creationId xmlns:a16="http://schemas.microsoft.com/office/drawing/2014/main" id="{2D37C8F9-7C03-440B-B0AE-E781769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664200"/>
            <a:ext cx="2032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2" name="Text 4">
            <a:extLst xmlns:a="http://schemas.openxmlformats.org/drawingml/2006/main">
              <a:ext uri="{FF2B5EF4-FFF2-40B4-BE49-F238E27FC236}">
                <a16:creationId xmlns:a16="http://schemas.microsoft.com/office/drawing/2014/main" id="{4444A161-FB91-4BC4-8B01-AABD73F9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918200"/>
            <a:ext cx="3276613" cy="317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>
                <a:solidFill>
                  <a:srgbClr val="A89B80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战略对齐 × 痛点解剖 × 真实流程 × 边界冻结</a:t>
            </a:r>
          </a:p>
        </p:txBody>
      </p:sp>
    </p:spTree>
    <p:extLst>
      <p:ext uri="{BB962C8B-B14F-4D97-AF65-F5344CB8AC3E}">
        <p14:creationId xmlns:p14="http://schemas.microsoft.com/office/powerpoint/2010/main" val="1790137871"/>
      </p:ext>
    </p:extLst>
  </p:cSld>
</p:sld>
</file>

<file path=ppt/slides/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09:00–10:30｜战略对齐与五维诊断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为什么｜先统一成功标准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11338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如果目标仍是“上一个 AI 工具”，团队会各自优化局部，无法判断转型是否真正发生。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做什么｜建立事实基线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11338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校准 North Star，并从 People、Process、Data、Issue、Traction 五维评估场景就绪度。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怎么做｜愿景共创 + 证据墙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先写 6 周成功画像，再把信息分为事实、数据限制、待验证假设；分歧最大的项优先讨论。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当场产出：AI 原生现状基线、North Star 成功画像、待验证假设清单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10:45–12:00｜五大痛点 Loop 化拆解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为什么｜痛点不能直接变需求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11338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“协同慢、信息散、经验丢失”只描述现象；若不找到循环断点，原型只会把旧流程数字化。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做什么｜翻译为 SJALF 缺口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11338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逐项判断缺的是 Sense 信号、Judge 规则、Act 动作、Learn 归因，还是 Feed 回灌。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怎么做｜HMW + Loop 映射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用 HMW 锚定用户、场景、阻碍和结果；再画出信号、判断、人闸、动作与反馈。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当场产出：痛点–Loop 映射表、三个场景挑战陈述、初版 SJALF 链路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14:00–15:30｜Golden Task 与 AS-IS 流程尸检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为什么｜真实案例暴露真实成本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抽象流程会隐藏等待、返工和口头判断；真实案例能让团队看到问题发生在哪里。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做什么｜还原当前事实流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复盘三个真实案例，记录角色、系统、时间戳、返工点、人闸和风险。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怎么做｜案例回放 + Journey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业务人员按时间顺序讲最近一次案例；记录员只写事实，标注等待、返工和知识流失。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当场产出：3 张 AS-IS 流程图、当前基线、关键断点与风险位置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15:45–17:30｜MVL Canvas 与边界冻结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为什么｜先限制，才能三天验证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范围越大，越容易做出无法验证的万能助手；MVL 必须最小、自治、可治理、可回归。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做什么｜冻结六个字段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11338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确认 Intent、User、Agent Team、Workflow、Context、Validation，并列出明确“不做清单”。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怎么做｜评分 + Owner 拍板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按价值、频率、数据、规则、风险评分；高风险判断保留人闸，Owner 对最终边界签字。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当场产出：3 份 MVL 闭环宪章、Sense 清单、Judge 红线、Feed 条件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F2A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Text 0">
            <a:extLst xmlns:a="http://schemas.openxmlformats.org/drawingml/2006/main">
              <a:ext uri="{FF2B5EF4-FFF2-40B4-BE49-F238E27FC236}">
                <a16:creationId xmlns:a16="http://schemas.microsoft.com/office/drawing/2014/main" id="{470F39CA-C057-448D-8396-C76D58E1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206499"/>
            <a:ext cx="2131641" cy="2743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50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79" name="Text 1">
            <a:extLst xmlns:a="http://schemas.openxmlformats.org/drawingml/2006/main">
              <a:ext uri="{FF2B5EF4-FFF2-40B4-BE49-F238E27FC236}">
                <a16:creationId xmlns:a16="http://schemas.microsoft.com/office/drawing/2014/main" id="{DCB0D896-2F7E-4CC5-98A2-24991139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937000"/>
            <a:ext cx="3354047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500" spc="400">
                <a:solidFill>
                  <a:srgbClr val="A89B80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2 · 建飞轮</a:t>
            </a:r>
          </a:p>
        </p:txBody>
      </p:sp>
      <p:sp>
        <p:nvSpPr>
          <p:cNvPr id="180" name="Text 2">
            <a:extLst xmlns:a="http://schemas.openxmlformats.org/drawingml/2006/main">
              <a:ext uri="{FF2B5EF4-FFF2-40B4-BE49-F238E27FC236}">
                <a16:creationId xmlns:a16="http://schemas.microsoft.com/office/drawing/2014/main" id="{713F95E8-14FD-4C00-8F0C-98EF92A1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470399"/>
            <a:ext cx="14744700" cy="8229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4000" b="1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「原型不是结果，它是让真实反馈尽早发生的工具。」</a:t>
            </a:r>
          </a:p>
        </p:txBody>
      </p:sp>
      <p:sp>
        <p:nvSpPr>
          <p:cNvPr id="181" name="Shape 3">
            <a:extLst xmlns:a="http://schemas.openxmlformats.org/drawingml/2006/main">
              <a:ext uri="{FF2B5EF4-FFF2-40B4-BE49-F238E27FC236}">
                <a16:creationId xmlns:a16="http://schemas.microsoft.com/office/drawing/2014/main" id="{2D37C8F9-7C03-440B-B0AE-E781769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664200"/>
            <a:ext cx="2032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2" name="Text 4">
            <a:extLst xmlns:a="http://schemas.openxmlformats.org/drawingml/2006/main">
              <a:ext uri="{FF2B5EF4-FFF2-40B4-BE49-F238E27FC236}">
                <a16:creationId xmlns:a16="http://schemas.microsoft.com/office/drawing/2014/main" id="{4444A161-FB91-4BC4-8B01-AABD73F9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918200"/>
            <a:ext cx="3276613" cy="317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>
                <a:solidFill>
                  <a:srgbClr val="A89B80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Harness 架构 × 质量飞轮 × 原型迭代 × 本体与 Eval</a:t>
            </a:r>
          </a:p>
        </p:txBody>
      </p:sp>
    </p:spTree>
    <p:extLst>
      <p:ext uri="{BB962C8B-B14F-4D97-AF65-F5344CB8AC3E}">
        <p14:creationId xmlns:p14="http://schemas.microsoft.com/office/powerpoint/2010/main" val="1790137871"/>
      </p:ext>
    </p:extLst>
  </p:cSld>
</p:sld>
</file>

<file path=ppt/slides/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09:00–10:30｜SJALF Harness 架构设计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为什么｜功能不等于闭环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11338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只有输入和输出的 Demo 无法学习；缺少 Learn 与 Feed，系统每次都会重复犯同样的错误。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做什么｜设计五段循环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11338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定义 Sense、Judge、Act、Learn、Feed 的输入输出，以及 Agent、Critic、专家的人机分工。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怎么做｜逐步写清契约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为每段写触发条件、数据、责任人、失败处理、审计记录；高风险动作设置双签。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当场产出：3 张 SJALF Harness 蓝图、接口与责任边界、失败降级规则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10:45–12:00｜四重质量飞轮与验证矩阵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为什么｜可信来自持续校准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一次正确不能证明系统可靠；没有错误复现、抽查和红队，自动化会累积不可见偏差。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做什么｜建立四种质量机制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事故→Eval、抽查→校准、红队→灵敏度、质量数据→规格，并定义三轮通过标准。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怎么做｜先写测试，再改原型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用标准、复杂、异常案例写验证脚本；每个失败点必须形成问题、归因、修正和回归证据。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当场产出：质量飞轮规则 v0.1、Functional / Usable / Trustworthy 验证脚本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14:00–15:40｜AI 原生原型两轮迭代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为什么｜尽早让反馈发生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11338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长时间讨论容易优化想象中的需求；可操作原型能立即暴露流程、数据、规则和交互问题。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做什么｜只跑最短可信链路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先用标准案例跑通主路径，再让非开发成员操作，依据 Corrections 完成第二轮。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怎么做｜Build–Test–Learn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Round 1 跑功能；20 分钟观察与归因；Round 2 删除冗余、补解释、人闸和异常处理。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当场产出：3 个沙盒原型 v0.5、两轮运行记录、Corrections 清单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15:55–17:30｜本体 YAML 与 Eval 种子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为什么｜把专家经验变成资产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提示词和口头经验不可治理；结构化规则与失败案例，才能形成可复用的组织能力。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做什么｜形成最小知识骨架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编码生态企业能力、海外风险维度与尽调事实规则；从历史偏差反向生成 Eval。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怎么做｜业务与技术并行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业务组定义概念、关系和红线；技术组写 YAML 与测试；双方用 Golden Task 校准。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当场产出：国创院产业本体 YAML v0.3、Eval 种子 ≥30 条、测试准入版本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1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F2A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Text 0">
            <a:extLst xmlns:a="http://schemas.openxmlformats.org/drawingml/2006/main">
              <a:ext uri="{FF2B5EF4-FFF2-40B4-BE49-F238E27FC236}">
                <a16:creationId xmlns:a16="http://schemas.microsoft.com/office/drawing/2014/main" id="{470F39CA-C057-448D-8396-C76D58E1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206499"/>
            <a:ext cx="2131641" cy="27432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50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79" name="Text 1">
            <a:extLst xmlns:a="http://schemas.openxmlformats.org/drawingml/2006/main">
              <a:ext uri="{FF2B5EF4-FFF2-40B4-BE49-F238E27FC236}">
                <a16:creationId xmlns:a16="http://schemas.microsoft.com/office/drawing/2014/main" id="{DCB0D896-2F7E-4CC5-98A2-24991139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937000"/>
            <a:ext cx="3354047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500" spc="400">
                <a:solidFill>
                  <a:srgbClr val="A89B80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DAY 3 · 验闭环</a:t>
            </a:r>
          </a:p>
        </p:txBody>
      </p:sp>
      <p:sp>
        <p:nvSpPr>
          <p:cNvPr id="180" name="Text 2">
            <a:extLst xmlns:a="http://schemas.openxmlformats.org/drawingml/2006/main">
              <a:ext uri="{FF2B5EF4-FFF2-40B4-BE49-F238E27FC236}">
                <a16:creationId xmlns:a16="http://schemas.microsoft.com/office/drawing/2014/main" id="{713F95E8-14FD-4C00-8F0C-98EF92A1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470399"/>
            <a:ext cx="14744700" cy="8229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35000"/>
              </a:lnSpc>
              <a:buNone/>
              <a:defRPr sz="4000" b="1">
                <a:solidFill>
                  <a:srgbClr val="F5F0E4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「不是演示得像，而是用证据证明它能用、可信、可进化。」</a:t>
            </a:r>
          </a:p>
        </p:txBody>
      </p:sp>
      <p:sp>
        <p:nvSpPr>
          <p:cNvPr id="181" name="Shape 3">
            <a:extLst xmlns:a="http://schemas.openxmlformats.org/drawingml/2006/main">
              <a:ext uri="{FF2B5EF4-FFF2-40B4-BE49-F238E27FC236}">
                <a16:creationId xmlns:a16="http://schemas.microsoft.com/office/drawing/2014/main" id="{2D37C8F9-7C03-440B-B0AE-E781769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664200"/>
            <a:ext cx="2032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2" name="Text 4">
            <a:extLst xmlns:a="http://schemas.openxmlformats.org/drawingml/2006/main">
              <a:ext uri="{FF2B5EF4-FFF2-40B4-BE49-F238E27FC236}">
                <a16:creationId xmlns:a16="http://schemas.microsoft.com/office/drawing/2014/main" id="{4444A161-FB91-4BC4-8B01-AABD73F9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918200"/>
            <a:ext cx="3276613" cy="317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>
                <a:solidFill>
                  <a:srgbClr val="A89B80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Functional × Usable × Trustworthy × 6 周启动</a:t>
            </a:r>
          </a:p>
        </p:txBody>
      </p:sp>
    </p:spTree>
    <p:extLst>
      <p:ext uri="{BB962C8B-B14F-4D97-AF65-F5344CB8AC3E}">
        <p14:creationId xmlns:p14="http://schemas.microsoft.com/office/powerpoint/2010/main" val="1790137871"/>
      </p:ext>
    </p:extLst>
  </p:cSld>
</p:sld>
</file>

<file path=ppt/slides/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09:00–10:30｜第一轮：Functional 可执行性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为什么｜先证明流程能跑通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如果核心任务无法端到端完成，界面体验和智能程度都没有验证意义。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做什么｜标准案例回归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检查输入、规则调用、核心判断、人工确认、结果输出与审计记录是否完整。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怎么做｜Golden Task 实跑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使用统一标准案例，对照专家答案；失败点形成问题→归因→修正→回归的完整证据。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当场产出：Functional 评分、验证问题清单、回归记录与可执行性结论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1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10:45–12:00｜Usable 验证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为什么｜能跑不等于会用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11338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由开发者代操作的 Demo 会隐藏认知负担；真实用户必须能理解结果并完成必要修正。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做什么｜复杂案例用户测试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观察用户是否知道下一步、理解判断依据、修正输入，并正确完成关键确认。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怎么做｜静默观察 + 访谈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开发者不提示；记录点击、停顿、误解和绕行；任务结束后追问信任点与阻碍。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当场产出：Usable 评分、用户行为记录、体验修正与独立使用结论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1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14:00–15:15｜第三轮：Trustworthy 信任控制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为什么｜高风险场景必须可控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智能体最危险的不是不会回答，而是在信息不足时给出看似确定、无法追溯的判断。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做什么｜异常与对抗测试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测试缺失数据、冲突证据、红线风险和越权动作，校验拒答、解释、人闸与双签。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怎么做｜红队注入 + 审计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使用异常案例触发 Critic；检查来源、过程、版本和人工决策是否完整留痕。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当场产出：Trustworthy 评分、人闸规则确认书、红队记录与风险结论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1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Shape 0">
            <a:extLst xmlns:a="http://schemas.openxmlformats.org/drawingml/2006/main">
              <a:ext uri="{FF2B5EF4-FFF2-40B4-BE49-F238E27FC236}">
                <a16:creationId xmlns:a16="http://schemas.microsoft.com/office/drawing/2014/main" id="{F3A1A881-A5CE-4D64-B4A4-EA5A989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3" name="Text 1">
            <a:extLst xmlns:a="http://schemas.openxmlformats.org/drawingml/2006/main">
              <a:ext uri="{FF2B5EF4-FFF2-40B4-BE49-F238E27FC236}">
                <a16:creationId xmlns:a16="http://schemas.microsoft.com/office/drawing/2014/main" id="{8CDBDCF9-D790-4232-BF7E-E33AE743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10884564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15:30–17:30｜闭环择优与 6 周启动</a:t>
            </a:r>
          </a:p>
        </p:txBody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00B08D25-3837-4F13-9000-BE99B36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125" name="Shape 3">
            <a:extLst xmlns:a="http://schemas.openxmlformats.org/drawingml/2006/main">
              <a:ext uri="{FF2B5EF4-FFF2-40B4-BE49-F238E27FC236}">
                <a16:creationId xmlns:a16="http://schemas.microsoft.com/office/drawing/2014/main" id="{6B7F9679-3EB0-4924-843D-F48F8841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Text 4">
            <a:extLst xmlns:a="http://schemas.openxmlformats.org/drawingml/2006/main">
              <a:ext uri="{FF2B5EF4-FFF2-40B4-BE49-F238E27FC236}">
                <a16:creationId xmlns:a16="http://schemas.microsoft.com/office/drawing/2014/main" id="{1D2307AF-3762-4AA8-B5E1-7F086AC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27" name="Text 5">
            <a:extLst xmlns:a="http://schemas.openxmlformats.org/drawingml/2006/main">
              <a:ext uri="{FF2B5EF4-FFF2-40B4-BE49-F238E27FC236}">
                <a16:creationId xmlns:a16="http://schemas.microsoft.com/office/drawing/2014/main" id="{347318B9-0C93-4E90-B106-599847B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为什么｜验证必须转成决策</a:t>
            </a:r>
          </a:p>
        </p:txBody>
      </p:sp>
      <p:sp>
        <p:nvSpPr>
          <p:cNvPr id="128" name="Shape 6">
            <a:extLst xmlns:a="http://schemas.openxmlformats.org/drawingml/2006/main">
              <a:ext uri="{FF2B5EF4-FFF2-40B4-BE49-F238E27FC236}">
                <a16:creationId xmlns:a16="http://schemas.microsoft.com/office/drawing/2014/main" id="{439F3513-8BAD-48A4-AC53-8C1B4F98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9" name="Text 7">
            <a:extLst xmlns:a="http://schemas.openxmlformats.org/drawingml/2006/main">
              <a:ext uri="{FF2B5EF4-FFF2-40B4-BE49-F238E27FC236}">
                <a16:creationId xmlns:a16="http://schemas.microsoft.com/office/drawing/2014/main" id="{81939067-C3E1-4CEE-BA31-B73FD41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11600"/>
            <a:ext cx="4064000" cy="11338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工作坊如果只留下原型，没有 Owner、里程碑和准入结论，组织会回到原来的推进方式。</a:t>
            </a:r>
          </a:p>
        </p:txBody>
      </p:sp>
      <p:sp>
        <p:nvSpPr>
          <p:cNvPr id="130" name="Shape 8">
            <a:extLst xmlns:a="http://schemas.openxmlformats.org/drawingml/2006/main">
              <a:ext uri="{FF2B5EF4-FFF2-40B4-BE49-F238E27FC236}">
                <a16:creationId xmlns:a16="http://schemas.microsoft.com/office/drawing/2014/main" id="{7DFD38E0-14B4-428A-97C4-5E87910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Text 9">
            <a:extLst xmlns:a="http://schemas.openxmlformats.org/drawingml/2006/main">
              <a:ext uri="{FF2B5EF4-FFF2-40B4-BE49-F238E27FC236}">
                <a16:creationId xmlns:a16="http://schemas.microsoft.com/office/drawing/2014/main" id="{013114ED-B682-4469-BCF5-306D1C60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32" name="Text 10">
            <a:extLst xmlns:a="http://schemas.openxmlformats.org/drawingml/2006/main">
              <a:ext uri="{FF2B5EF4-FFF2-40B4-BE49-F238E27FC236}">
                <a16:creationId xmlns:a16="http://schemas.microsoft.com/office/drawing/2014/main" id="{339B39D4-6FA5-4B77-89C2-51380D8B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做什么｜定版与分级准入</a:t>
            </a:r>
          </a:p>
        </p:txBody>
      </p:sp>
      <p:sp>
        <p:nvSpPr>
          <p:cNvPr id="133" name="Shape 11">
            <a:extLst xmlns:a="http://schemas.openxmlformats.org/drawingml/2006/main">
              <a:ext uri="{FF2B5EF4-FFF2-40B4-BE49-F238E27FC236}">
                <a16:creationId xmlns:a16="http://schemas.microsoft.com/office/drawing/2014/main" id="{36D496E9-92E4-4928-B312-5472220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12">
            <a:extLst xmlns:a="http://schemas.openxmlformats.org/drawingml/2006/main">
              <a:ext uri="{FF2B5EF4-FFF2-40B4-BE49-F238E27FC236}">
                <a16:creationId xmlns:a16="http://schemas.microsoft.com/office/drawing/2014/main" id="{3637BF21-0B2D-4038-B1F0-5BD1836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1600"/>
            <a:ext cx="4064000" cy="75590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按价值、完整性、可用性、可信度、数据就绪度评审，决定立即进入、补条件或暂缓。</a:t>
            </a:r>
          </a:p>
        </p:txBody>
      </p:sp>
      <p:sp>
        <p:nvSpPr>
          <p:cNvPr id="13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08410-9683-4D40-8B76-634C30E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0" y="1778000"/>
            <a:ext cx="46736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14">
            <a:extLst xmlns:a="http://schemas.openxmlformats.org/drawingml/2006/main">
              <a:ext uri="{FF2B5EF4-FFF2-40B4-BE49-F238E27FC236}">
                <a16:creationId xmlns:a16="http://schemas.microsoft.com/office/drawing/2014/main" id="{EBAA6157-2805-4E89-8716-8CBF8B3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057400"/>
            <a:ext cx="521246" cy="6583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37" name="Text 15">
            <a:extLst xmlns:a="http://schemas.openxmlformats.org/drawingml/2006/main">
              <a:ext uri="{FF2B5EF4-FFF2-40B4-BE49-F238E27FC236}">
                <a16:creationId xmlns:a16="http://schemas.microsoft.com/office/drawing/2014/main" id="{410BED8F-3D91-48DB-9159-FD2A18C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2768600"/>
            <a:ext cx="40640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3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怎么做｜路线图 + 共生契约</a:t>
            </a:r>
          </a:p>
        </p:txBody>
      </p:sp>
      <p:sp>
        <p:nvSpPr>
          <p:cNvPr id="138" name="Shape 16">
            <a:extLst xmlns:a="http://schemas.openxmlformats.org/drawingml/2006/main">
              <a:ext uri="{FF2B5EF4-FFF2-40B4-BE49-F238E27FC236}">
                <a16:creationId xmlns:a16="http://schemas.microsoft.com/office/drawing/2014/main" id="{D86D7417-EE28-454C-A279-D04115CF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683000"/>
            <a:ext cx="508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7">
            <a:extLst xmlns:a="http://schemas.openxmlformats.org/drawingml/2006/main">
              <a:ext uri="{FF2B5EF4-FFF2-40B4-BE49-F238E27FC236}">
                <a16:creationId xmlns:a16="http://schemas.microsoft.com/office/drawing/2014/main" id="{EA60B206-A721-441E-9F89-F9DF31A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3911600"/>
            <a:ext cx="4064000" cy="11455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确定 6 周周目标、Owner、Corrections 指标、本体节奏、资源依赖与第一次复盘日期。</a:t>
            </a:r>
          </a:p>
        </p:txBody>
      </p:sp>
      <p:sp>
        <p:nvSpPr>
          <p:cNvPr id="140" name="Shape 18">
            <a:extLst xmlns:a="http://schemas.openxmlformats.org/drawingml/2006/main">
              <a:ext uri="{FF2B5EF4-FFF2-40B4-BE49-F238E27FC236}">
                <a16:creationId xmlns:a16="http://schemas.microsoft.com/office/drawing/2014/main" id="{1DEB3A60-3CF2-4890-B4AD-6A001C90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146304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9">
            <a:extLst xmlns:a="http://schemas.openxmlformats.org/drawingml/2006/main">
              <a:ext uri="{FF2B5EF4-FFF2-40B4-BE49-F238E27FC236}">
                <a16:creationId xmlns:a16="http://schemas.microsoft.com/office/drawing/2014/main" id="{99CF1761-52B1-4834-8AEE-8E2F177E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350000"/>
            <a:ext cx="762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C926-DE33-48B2-81F8-D6226CB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38949"/>
            <a:ext cx="9241384" cy="4389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当场产出：终版 MVL 方案、6 周 Loop 路线图、责任清单与共生契约</a:t>
            </a:r>
          </a:p>
        </p:txBody>
      </p:sp>
      <p:sp>
        <p:nvSpPr>
          <p:cNvPr id="143" name="Shape 21">
            <a:extLst xmlns:a="http://schemas.openxmlformats.org/drawingml/2006/main">
              <a:ext uri="{FF2B5EF4-FFF2-40B4-BE49-F238E27FC236}">
                <a16:creationId xmlns:a16="http://schemas.microsoft.com/office/drawing/2014/main" id="{B76B0214-9FB3-44C6-BA26-D7EE74A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22">
            <a:extLst xmlns:a="http://schemas.openxmlformats.org/drawingml/2006/main">
              <a:ext uri="{FF2B5EF4-FFF2-40B4-BE49-F238E27FC236}">
                <a16:creationId xmlns:a16="http://schemas.microsoft.com/office/drawing/2014/main" id="{0CEF8B87-BE0C-415F-B96D-D2BB367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145" name="Text 23">
            <a:extLst xmlns:a="http://schemas.openxmlformats.org/drawingml/2006/main">
              <a:ext uri="{FF2B5EF4-FFF2-40B4-BE49-F238E27FC236}">
                <a16:creationId xmlns:a16="http://schemas.microsoft.com/office/drawing/2014/main" id="{9BA14414-4CF3-4AC5-A072-C6E7368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078432872"/>
      </p:ext>
    </p:extLst>
  </p:cSld>
</p:sld>
</file>

<file path=ppt/slides/slide2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3" name="Shape 0">
            <a:extLst xmlns:a="http://schemas.openxmlformats.org/drawingml/2006/main">
              <a:ext uri="{FF2B5EF4-FFF2-40B4-BE49-F238E27FC236}">
                <a16:creationId xmlns:a16="http://schemas.microsoft.com/office/drawing/2014/main" id="{4ACE2755-D326-408C-B981-D9AA330A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62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4" name="Text 1">
            <a:extLst xmlns:a="http://schemas.openxmlformats.org/drawingml/2006/main">
              <a:ext uri="{FF2B5EF4-FFF2-40B4-BE49-F238E27FC236}">
                <a16:creationId xmlns:a16="http://schemas.microsoft.com/office/drawing/2014/main" id="{BB10EB82-3142-4B7B-A0EC-2F3C3A3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7050"/>
            <a:ext cx="3429726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>
              <a:lnSpc>
                <a:spcPct val="125000"/>
              </a:lnSpc>
              <a:buNone/>
              <a:defRPr sz="29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三天交付 &amp; 下一步</a:t>
            </a:r>
          </a:p>
        </p:txBody>
      </p:sp>
      <p:sp>
        <p:nvSpPr>
          <p:cNvPr id="495" name="Text 2">
            <a:extLst xmlns:a="http://schemas.openxmlformats.org/drawingml/2006/main">
              <a:ext uri="{FF2B5EF4-FFF2-40B4-BE49-F238E27FC236}">
                <a16:creationId xmlns:a16="http://schemas.microsoft.com/office/drawing/2014/main" id="{B5B8F3E0-EFBC-4633-928A-55E3D9F7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19" y="622300"/>
            <a:ext cx="1786882" cy="23774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3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CLOSE · 20/20</a:t>
            </a:r>
          </a:p>
        </p:txBody>
      </p:sp>
      <p:sp>
        <p:nvSpPr>
          <p:cNvPr id="496" name="Shape 3">
            <a:extLst xmlns:a="http://schemas.openxmlformats.org/drawingml/2006/main">
              <a:ext uri="{FF2B5EF4-FFF2-40B4-BE49-F238E27FC236}">
                <a16:creationId xmlns:a16="http://schemas.microsoft.com/office/drawing/2014/main" id="{E282FA42-4425-4C37-80C3-B259187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51000"/>
            <a:ext cx="7112000" cy="596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7" name="Shape 4">
            <a:extLst xmlns:a="http://schemas.openxmlformats.org/drawingml/2006/main">
              <a:ext uri="{FF2B5EF4-FFF2-40B4-BE49-F238E27FC236}">
                <a16:creationId xmlns:a16="http://schemas.microsoft.com/office/drawing/2014/main" id="{515484E9-C607-49DE-B1DA-25BF5FAE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51000"/>
            <a:ext cx="76200" cy="596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8" name="Text 5">
            <a:extLst xmlns:a="http://schemas.openxmlformats.org/drawingml/2006/main">
              <a:ext uri="{FF2B5EF4-FFF2-40B4-BE49-F238E27FC236}">
                <a16:creationId xmlns:a16="http://schemas.microsoft.com/office/drawing/2014/main" id="{0675BCAE-12BB-4148-A43A-97081B4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2006600"/>
            <a:ext cx="1282700" cy="365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0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现场交付检查</a:t>
            </a:r>
          </a:p>
        </p:txBody>
      </p:sp>
      <p:sp>
        <p:nvSpPr>
          <p:cNvPr id="499" name="Text 6">
            <a:extLst xmlns:a="http://schemas.openxmlformats.org/drawingml/2006/main">
              <a:ext uri="{FF2B5EF4-FFF2-40B4-BE49-F238E27FC236}">
                <a16:creationId xmlns:a16="http://schemas.microsoft.com/office/drawing/2014/main" id="{8BAA9CCB-E488-4562-BA91-FB20736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2667000"/>
            <a:ext cx="6477000" cy="222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buNone/>
              <a:defRPr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□　3 份 MVL 闭环宪章</a:t>
            </a:r>
          </a:p>
          <a:p xmlns:a="http://schemas.openxmlformats.org/drawingml/2006/main">
            <a:pPr>
              <a:lnSpc>
                <a:spcPct val="200000"/>
              </a:lnSpc>
              <a:buNone/>
              <a:defRPr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□　3 张 SJALF Harness 蓝图</a:t>
            </a:r>
          </a:p>
          <a:p xmlns:a="http://schemas.openxmlformats.org/drawingml/2006/main">
            <a:pPr>
              <a:lnSpc>
                <a:spcPct val="200000"/>
              </a:lnSpc>
              <a:buNone/>
              <a:defRPr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□　3 个沙盒原型</a:t>
            </a:r>
          </a:p>
          <a:p xmlns:a="http://schemas.openxmlformats.org/drawingml/2006/main">
            <a:pPr>
              <a:lnSpc>
                <a:spcPct val="200000"/>
              </a:lnSpc>
              <a:buNone/>
              <a:defRPr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□　30+ Eval 种子</a:t>
            </a:r>
          </a:p>
          <a:p xmlns:a="http://schemas.openxmlformats.org/drawingml/2006/main">
            <a:pPr>
              <a:lnSpc>
                <a:spcPct val="200000"/>
              </a:lnSpc>
              <a:buNone/>
              <a:defRPr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pPr>
            <a:r>
              <a:t>□　三轮验证证据</a:t>
            </a:r>
          </a:p>
        </p:txBody>
      </p:sp>
      <p:sp>
        <p:nvSpPr>
          <p:cNvPr id="500" name="Text 7">
            <a:extLst xmlns:a="http://schemas.openxmlformats.org/drawingml/2006/main">
              <a:ext uri="{FF2B5EF4-FFF2-40B4-BE49-F238E27FC236}">
                <a16:creationId xmlns:a16="http://schemas.microsoft.com/office/drawing/2014/main" id="{E2CEEFB7-1F10-4C74-B998-9B4649B5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" y="6350000"/>
            <a:ext cx="6477000" cy="365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60000"/>
              </a:lnSpc>
              <a:buNone/>
              <a:defRPr sz="15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每项交付物都必须有 Owner、版本和可复现证据。</a:t>
            </a:r>
          </a:p>
        </p:txBody>
      </p:sp>
      <p:sp>
        <p:nvSpPr>
          <p:cNvPr id="501" name="Shape 8">
            <a:extLst xmlns:a="http://schemas.openxmlformats.org/drawingml/2006/main">
              <a:ext uri="{FF2B5EF4-FFF2-40B4-BE49-F238E27FC236}">
                <a16:creationId xmlns:a16="http://schemas.microsoft.com/office/drawing/2014/main" id="{28808E6A-6A65-4F45-B04E-9158F73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1651000"/>
            <a:ext cx="7112000" cy="27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7AA9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Text 9">
            <a:extLst xmlns:a="http://schemas.openxmlformats.org/drawingml/2006/main">
              <a:ext uri="{FF2B5EF4-FFF2-40B4-BE49-F238E27FC236}">
                <a16:creationId xmlns:a16="http://schemas.microsoft.com/office/drawing/2014/main" id="{2A61D909-59CB-4B91-BF71-8A221803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930400"/>
            <a:ext cx="1839715" cy="25603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400" b="1" spc="200">
                <a:solidFill>
                  <a:srgbClr val="C08A3E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NEXT · 6 WEEKS</a:t>
            </a:r>
          </a:p>
        </p:txBody>
      </p:sp>
      <p:sp>
        <p:nvSpPr>
          <p:cNvPr id="503" name="Text 10">
            <a:extLst xmlns:a="http://schemas.openxmlformats.org/drawingml/2006/main">
              <a:ext uri="{FF2B5EF4-FFF2-40B4-BE49-F238E27FC236}">
                <a16:creationId xmlns:a16="http://schemas.microsoft.com/office/drawing/2014/main" id="{A21FF3CF-59D4-4A2A-9F28-0D3BB378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2362200"/>
            <a:ext cx="3365500" cy="40233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200" b="1">
                <a:solidFill>
                  <a:srgbClr val="1F2A36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开发、运营与环路迭代</a:t>
            </a:r>
          </a:p>
        </p:txBody>
      </p:sp>
      <p:sp>
        <p:nvSpPr>
          <p:cNvPr id="504" name="Text 11">
            <a:extLst xmlns:a="http://schemas.openxmlformats.org/drawingml/2006/main">
              <a:ext uri="{FF2B5EF4-FFF2-40B4-BE49-F238E27FC236}">
                <a16:creationId xmlns:a16="http://schemas.microsoft.com/office/drawing/2014/main" id="{C8A3FFBA-F56B-43EE-8FA8-76282046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3175000"/>
            <a:ext cx="6477000" cy="37795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5000"/>
              </a:lnSpc>
              <a:buNone/>
              <a:defRPr sz="1600">
                <a:solidFill>
                  <a:srgbClr val="232A31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让 Corrections 持续进入本体、规则、Eval 与下一版原型。</a:t>
            </a:r>
          </a:p>
        </p:txBody>
      </p:sp>
      <p:sp>
        <p:nvSpPr>
          <p:cNvPr id="505" name="Shape 12">
            <a:extLst xmlns:a="http://schemas.openxmlformats.org/drawingml/2006/main">
              <a:ext uri="{FF2B5EF4-FFF2-40B4-BE49-F238E27FC236}">
                <a16:creationId xmlns:a16="http://schemas.microsoft.com/office/drawing/2014/main" id="{C080D947-713F-4C9D-915B-A9A57A34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699000"/>
            <a:ext cx="7112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8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Shape 13">
            <a:extLst xmlns:a="http://schemas.openxmlformats.org/drawingml/2006/main">
              <a:ext uri="{FF2B5EF4-FFF2-40B4-BE49-F238E27FC236}">
                <a16:creationId xmlns:a16="http://schemas.microsoft.com/office/drawing/2014/main" id="{164C38CB-2559-4D05-B023-51A8EF51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699000"/>
            <a:ext cx="762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7" name="Text 14">
            <a:extLst xmlns:a="http://schemas.openxmlformats.org/drawingml/2006/main">
              <a:ext uri="{FF2B5EF4-FFF2-40B4-BE49-F238E27FC236}">
                <a16:creationId xmlns:a16="http://schemas.microsoft.com/office/drawing/2014/main" id="{0B085ED6-9126-4FE0-B5E2-317271C4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4978400"/>
            <a:ext cx="723900" cy="25603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400" b="1">
                <a:solidFill>
                  <a:srgbClr val="C08A3E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共同承诺</a:t>
            </a:r>
          </a:p>
        </p:txBody>
      </p:sp>
      <p:sp>
        <p:nvSpPr>
          <p:cNvPr id="508" name="Text 15">
            <a:extLst xmlns:a="http://schemas.openxmlformats.org/drawingml/2006/main">
              <a:ext uri="{FF2B5EF4-FFF2-40B4-BE49-F238E27FC236}">
                <a16:creationId xmlns:a16="http://schemas.microsoft.com/office/drawing/2014/main" id="{E3A0737B-12F9-490B-91C4-3354A84B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5461000"/>
            <a:ext cx="6477000" cy="10972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400" b="1">
                <a:solidFill>
                  <a:srgbClr val="1F2A36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「把判断留给人，把 Loop 的进化交给系统。」</a:t>
            </a:r>
          </a:p>
        </p:txBody>
      </p:sp>
      <p:sp>
        <p:nvSpPr>
          <p:cNvPr id="509" name="Shape 16">
            <a:extLst xmlns:a="http://schemas.openxmlformats.org/drawingml/2006/main">
              <a:ext uri="{FF2B5EF4-FFF2-40B4-BE49-F238E27FC236}">
                <a16:creationId xmlns:a16="http://schemas.microsoft.com/office/drawing/2014/main" id="{D1B39463-52E1-460A-8163-C1E8AB77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585200"/>
            <a:ext cx="146304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A90"/>
          </a:solidFill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0" name="Text 17">
            <a:extLst xmlns:a="http://schemas.openxmlformats.org/drawingml/2006/main">
              <a:ext uri="{FF2B5EF4-FFF2-40B4-BE49-F238E27FC236}">
                <a16:creationId xmlns:a16="http://schemas.microsoft.com/office/drawing/2014/main" id="{E5979435-1810-4DE9-B6E9-3CB161C2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648700"/>
            <a:ext cx="4038948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Quattrocento Sans"/>
                <a:ea typeface="Quattrocento Sans"/>
                <a:cs typeface="Quattrocento Sans"/>
              </a:defRPr>
            </a:lvl1pPr>
          </a:lstStyle>
          <a:p xmlns:a="http://schemas.openxmlformats.org/drawingml/2006/main">
            <a:pPr>
              <a:buNone/>
            </a:pPr>
            <a:r>
              <a:t>长三角国创院 AI 原生转型种子计划 · 3 天 MVL 闭环工作坊</a:t>
            </a:r>
          </a:p>
        </p:txBody>
      </p:sp>
      <p:sp>
        <p:nvSpPr>
          <p:cNvPr id="511" name="Text 18">
            <a:extLst xmlns:a="http://schemas.openxmlformats.org/drawingml/2006/main">
              <a:ext uri="{FF2B5EF4-FFF2-40B4-BE49-F238E27FC236}">
                <a16:creationId xmlns:a16="http://schemas.microsoft.com/office/drawing/2014/main" id="{00AC34C5-F0B2-4983-9655-62E15AC5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4444" y="8724899"/>
            <a:ext cx="478757" cy="2194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lvl1pPr algn="r">
              <a:lnSpc>
                <a:spcPct val="120000"/>
              </a:lnSpc>
              <a:buNone/>
              <a:defRPr sz="1200">
                <a:solidFill>
                  <a:srgbClr val="6E6658"/>
                </a:solidFill>
                <a:latin typeface="Liter"/>
                <a:ea typeface="Liter"/>
                <a:cs typeface="Liter"/>
              </a:defRPr>
            </a:lvl1pPr>
          </a:lstStyle>
          <a:p xmlns:a="http://schemas.openxmlformats.org/drawingml/2006/main">
            <a:pPr>
              <a:buNone/>
            </a:pPr>
            <a: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5106203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2026-07-26T05:03:33.2780000Z</dcterms:created>
  <dcterms:modified xsi:type="dcterms:W3CDTF">2026-07-26T05:03:33.2780000Z</dcterms:modified>
</coreProperties>
</file>